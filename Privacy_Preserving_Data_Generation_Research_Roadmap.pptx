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Privacy-Preserving Synthetic Data Generation Framework for Smart Grid Cybersecurity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400"/>
            </a:pPr>
            <a:r>
              <a:t>A Federated Learning Approach with Differential Privacy</a:t>
            </a:r>
          </a:p>
          <a:p>
            <a:pPr algn="ctr">
              <a:defRPr sz="1400"/>
            </a:pPr>
          </a:p>
          <a:p>
            <a:pPr algn="ctr">
              <a:defRPr sz="1400"/>
            </a:pPr>
            <a:r>
              <a:t>[Student Name]</a:t>
            </a:r>
          </a:p>
          <a:p>
            <a:pPr algn="ctr">
              <a:defRPr sz="1400"/>
            </a:pPr>
            <a:r>
              <a:t>[University Name]</a:t>
            </a:r>
          </a:p>
          <a:p>
            <a:pPr algn="ctr">
              <a:defRPr sz="1400"/>
            </a:pPr>
            <a:r>
              <a:t>Advanced Cybersecurity Research Project (1 Month)</a:t>
            </a:r>
          </a:p>
          <a:p>
            <a:pPr algn="ctr">
              <a:defRPr sz="1400"/>
            </a:pPr>
            <a: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Roadmap - Today's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Problem Statement &amp; Motivation</a:t>
            </a:r>
          </a:p>
          <a:p>
            <a:pPr>
              <a:defRPr sz="1400"/>
            </a:pPr>
            <a:r>
              <a:t>Literature Review &amp; Related Work</a:t>
            </a:r>
          </a:p>
          <a:p>
            <a:pPr>
              <a:defRPr sz="1400"/>
            </a:pPr>
            <a:r>
              <a:t>Research Gap Analysis</a:t>
            </a:r>
          </a:p>
          <a:p>
            <a:pPr>
              <a:defRPr sz="1400"/>
            </a:pPr>
            <a:r>
              <a:t>Proposed PPSDG-F Framework</a:t>
            </a:r>
          </a:p>
          <a:p>
            <a:pPr>
              <a:defRPr sz="1400"/>
            </a:pPr>
            <a:r>
              <a:t>System Architecture &amp; Design</a:t>
            </a:r>
          </a:p>
          <a:p>
            <a:pPr>
              <a:defRPr sz="1400"/>
            </a:pPr>
            <a:r>
              <a:t>Novel Algorithmic Contributions</a:t>
            </a:r>
          </a:p>
          <a:p>
            <a:pPr>
              <a:defRPr sz="1400"/>
            </a:pPr>
            <a:r>
              <a:t>What Makes Our Approach Different</a:t>
            </a:r>
          </a:p>
          <a:p>
            <a:pPr>
              <a:defRPr sz="1400"/>
            </a:pPr>
            <a:r>
              <a:t>Experimental Methodology</a:t>
            </a:r>
          </a:p>
          <a:p>
            <a:pPr>
              <a:defRPr sz="1400"/>
            </a:pPr>
            <a:r>
              <a:t>Expected Results &amp; Evaluation</a:t>
            </a:r>
          </a:p>
          <a:p>
            <a:pPr>
              <a:defRPr sz="1400"/>
            </a:pPr>
            <a:r>
              <a:t>One-Month Implementation Roadmap</a:t>
            </a:r>
          </a:p>
          <a:p>
            <a:pPr>
              <a:defRPr sz="1400"/>
            </a:pPr>
            <a:r>
              <a:t>Comparison with Related Work</a:t>
            </a:r>
          </a:p>
          <a:p>
            <a:pPr>
              <a:defRPr sz="1400"/>
            </a:pPr>
            <a:r>
              <a:t>Impact &amp;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Critical Challenge: Data Generation &amp; Privacy in Smart Grid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The Fundamental Problem:</a:t>
            </a:r>
          </a:p>
          <a:p>
            <a:pPr lvl="1">
              <a:defRPr i="1" sz="1400"/>
            </a:pPr>
            <a:r>
              <a:t>"How can we generate comprehensive, realistic cybersecurity datasets for training security models while preserving privacy of sensitive grid operations and consumer information?"</a:t>
            </a:r>
          </a:p>
          <a:p>
            <a:br/>
            <a:pPr>
              <a:defRPr b="1" sz="1400"/>
            </a:pPr>
            <a:r>
              <a:t>Key Challenges:</a:t>
            </a:r>
          </a:p>
          <a:p>
            <a:pPr lvl="1">
              <a:defRPr sz="1400"/>
            </a:pPr>
            <a:r>
              <a:t>Data Scarcity: Only 3-4 publicly available smart grid cybersecurity datasets globally</a:t>
            </a:r>
          </a:p>
          <a:p>
            <a:pPr lvl="1">
              <a:defRPr sz="1400"/>
            </a:pPr>
            <a:r>
              <a:t>Sensitive Information: Real grid data contains consumer patterns &amp; infrastructure secrets</a:t>
            </a:r>
          </a:p>
          <a:p>
            <a:pPr lvl="1">
              <a:defRPr sz="1400"/>
            </a:pPr>
            <a:r>
              <a:t>Regulatory Constraints: GDPR, CCPA limit data sharing capabilities</a:t>
            </a:r>
          </a:p>
          <a:p>
            <a:pPr lvl="1">
              <a:defRPr sz="1400"/>
            </a:pPr>
            <a:r>
              <a:t>Attack Rarity: Actual cyberattacks are rare but catastrophic events</a:t>
            </a:r>
          </a:p>
          <a:p>
            <a:pPr lvl="1">
              <a:defRPr sz="1400"/>
            </a:pPr>
            <a:r>
              <a:t>Privacy vs. Utility: Strong privacy often reduces data utility for ML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Motivation: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Economic &amp; Security Impact:</a:t>
            </a:r>
          </a:p>
          <a:p>
            <a:pPr lvl="1"/>
            <a:r>
              <a:t>$150B annual costs from US power grid outages</a:t>
            </a:r>
          </a:p>
          <a:p>
            <a:pPr lvl="1"/>
            <a:r>
              <a:t>$7.2B global smart grid security market by 2025</a:t>
            </a:r>
          </a:p>
          <a:p>
            <a:pPr lvl="1"/>
            <a:r>
              <a:t>68% of cybersecurity papers use unrealistic datasets</a:t>
            </a:r>
          </a:p>
          <a:p>
            <a:pPr lvl="1"/>
            <a:r>
              <a:t>89% of synthetic data methods ignore privacy implications</a:t>
            </a:r>
          </a:p>
          <a:p>
            <a:pPr lvl="1"/>
            <a:r>
              <a:t>&lt;5% utility adoption of research-generated datasets</a:t>
            </a:r>
          </a:p>
          <a:p>
            <a:br/>
            <a:pPr>
              <a:defRPr b="1"/>
            </a:pPr>
            <a:r>
              <a:t>Consequences of Current Limitations:</a:t>
            </a:r>
          </a:p>
          <a:p>
            <a:pPr lvl="1"/>
            <a:r>
              <a:t>Security systems miss novel attack vectors (trained on limited data)</a:t>
            </a:r>
          </a:p>
          <a:p>
            <a:pPr lvl="1"/>
            <a:r>
              <a:t>False positive inflation in production environments</a:t>
            </a:r>
          </a:p>
          <a:p>
            <a:pPr lvl="1"/>
            <a:r>
              <a:t>Lab-trained models fail in real-world deployment</a:t>
            </a:r>
          </a:p>
          <a:p>
            <a:pPr lvl="1"/>
            <a:r>
              <a:t>Utilities reluctant to invest in unvalidated security solutions</a:t>
            </a:r>
          </a:p>
          <a:p>
            <a:pPr lvl="1"/>
            <a:r>
              <a:t>Innovation stagnation in power sector cybersecurity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Research Highlighting 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Recent Publications:</a:t>
            </a:r>
          </a:p>
          <a:p>
            <a:pPr lvl="1">
              <a:defRPr b="1"/>
            </a:pPr>
            <a:r>
              <a:t>[1] Wang, L., et al. (2024) - IEEE TIFS</a:t>
            </a:r>
          </a:p>
          <a:p>
            <a:pPr lvl="2">
              <a:defRPr sz="1400"/>
            </a:pPr>
            <a:r>
              <a:t>Analysis of 127 cybersecurity papers reveals 68% use unrealistic datasets</a:t>
            </a:r>
          </a:p>
          <a:p>
            <a:pPr lvl="2">
              <a:defRPr sz="1400"/>
            </a:pPr>
            <a:r>
              <a:t>89% of synthetic data methods ignore privacy implications</a:t>
            </a:r>
          </a:p>
          <a:p>
            <a:pPr lvl="2">
              <a:defRPr sz="1400"/>
            </a:pPr>
            <a:r>
              <a:t>Current datasets cover &lt;15% of known smart grid attack vectors</a:t>
            </a:r>
          </a:p>
          <a:p>
            <a:pPr lvl="1">
              <a:defRPr b="1"/>
            </a:pPr>
            <a:r>
              <a:t>[2] Zhang, K., et al. (2024) - IEEE Trans. Smart Grid</a:t>
            </a:r>
          </a:p>
          <a:p>
            <a:pPr lvl="2">
              <a:defRPr sz="1400"/>
            </a:pPr>
            <a:r>
              <a:t>High-dimensional smart grid data complicates differential privacy</a:t>
            </a:r>
          </a:p>
          <a:p>
            <a:pPr lvl="2">
              <a:defRPr sz="1400"/>
            </a:pPr>
            <a:r>
              <a:t>Temporal correlation enables privacy attacks through time analysis</a:t>
            </a:r>
          </a:p>
          <a:p>
            <a:pPr lvl="2">
              <a:defRPr sz="1400"/>
            </a:pPr>
            <a:r>
              <a:t>Novel temporal differential privacy mechanisms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Research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[3] Liu, S., et al. (2023) - Computer Networks</a:t>
            </a:r>
          </a:p>
          <a:p>
            <a:pPr lvl="1">
              <a:defRPr sz="1400"/>
            </a:pPr>
            <a:r>
              <a:t>Federated learning for privacy-preserving anomaly detection</a:t>
            </a:r>
          </a:p>
          <a:p>
            <a:pPr lvl="1">
              <a:defRPr sz="1400"/>
            </a:pPr>
            <a:r>
              <a:t>34% improvement through federated approach vs. centralized</a:t>
            </a:r>
          </a:p>
          <a:p>
            <a:pPr lvl="1">
              <a:defRPr sz="1400"/>
            </a:pPr>
            <a:r>
              <a:t>89% reduction in privacy leakage demonstrated</a:t>
            </a:r>
          </a:p>
          <a:p>
            <a:pPr lvl="1">
              <a:defRPr sz="1400"/>
            </a:pPr>
            <a:r>
              <a:t>Successful deployment in heterogeneous utility environments</a:t>
            </a:r>
          </a:p>
          <a:p>
            <a:pPr>
              <a:defRPr b="1"/>
            </a:pPr>
            <a:r>
              <a:t>[4] Chen, M., et al. (2023) - IEEE Trans. Industrial Informatics</a:t>
            </a:r>
          </a:p>
          <a:p>
            <a:pPr lvl="1">
              <a:defRPr sz="1400"/>
            </a:pPr>
            <a:r>
              <a:t>GAN-based synthesis of realistic cyberattack scenarios</a:t>
            </a:r>
          </a:p>
          <a:p>
            <a:pPr lvl="1">
              <a:defRPr sz="1400"/>
            </a:pPr>
            <a:r>
              <a:t>92% fidelity score for synthetic vs. real attack data</a:t>
            </a:r>
          </a:p>
          <a:p>
            <a:pPr lvl="1">
              <a:defRPr sz="1400"/>
            </a:pPr>
            <a:r>
              <a:t>Integration of differential privacy into GAN training</a:t>
            </a:r>
          </a:p>
          <a:p>
            <a:pPr lvl="1">
              <a:defRPr sz="1400"/>
            </a:pPr>
            <a:r>
              <a:t>10^-6 privacy leakage bound achieved</a:t>
            </a:r>
          </a:p>
          <a:p>
            <a:pPr>
              <a:defRPr b="1"/>
            </a:pPr>
            <a:r>
              <a:t>[5] Rodriguez, A., et al. (2023) - IEEE TDSC</a:t>
            </a:r>
          </a:p>
          <a:p>
            <a:pPr lvl="1">
              <a:defRPr sz="1400"/>
            </a:pPr>
            <a:r>
              <a:t>Blockchain-enabled secure data sharing framework</a:t>
            </a:r>
          </a:p>
          <a:p>
            <a:pPr lvl="1">
              <a:defRPr sz="1400"/>
            </a:pPr>
            <a:r>
              <a:t>67% reduction in data sharing setup time</a:t>
            </a:r>
          </a:p>
          <a:p>
            <a:pPr lvl="1">
              <a:defRPr sz="1400"/>
            </a:pPr>
            <a:r>
              <a:t>Zero-knowledge proofs for data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Analysis: What's Missing?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Limitations in Current Approaches:</a:t>
            </a:r>
          </a:p>
          <a:p>
            <a:pPr lvl="1"/>
            <a:r>
              <a:t>Insufficient Privacy Guarantees: Most methods lack formal privacy proofs</a:t>
            </a:r>
          </a:p>
          <a:p>
            <a:pPr lvl="1"/>
            <a:r>
              <a:t>Poor Quality Assessment: No standardized metrics for cybersecurity data quality</a:t>
            </a:r>
          </a:p>
          <a:p>
            <a:pPr lvl="1"/>
            <a:r>
              <a:t>Scalability Challenges: Don't scale to enterprise-level grid simulations</a:t>
            </a:r>
          </a:p>
          <a:p>
            <a:pPr lvl="1"/>
            <a:r>
              <a:t>Industry Disconnect: Limited validation in real utility environments</a:t>
            </a:r>
          </a:p>
          <a:p>
            <a:pPr lvl="1"/>
            <a:r>
              <a:t>Temporal Privacy Gaps: Fail to address time-series correlation privacy risks</a:t>
            </a:r>
          </a:p>
          <a:p>
            <a:br/>
            <a:pPr>
              <a:defRPr b="1"/>
            </a:pPr>
            <a:r>
              <a:t>Practical Deployment Barriers:</a:t>
            </a:r>
          </a:p>
          <a:p>
            <a:pPr lvl="1"/>
            <a:r>
              <a:t>Regulatory Compliance: No compliance frameworks for synthetic data</a:t>
            </a:r>
          </a:p>
          <a:p>
            <a:pPr lvl="1"/>
            <a:r>
              <a:t>Trust Issues: Utilities don't trust privacy-preserving mechanisms</a:t>
            </a:r>
          </a:p>
          <a:p>
            <a:pPr lvl="1"/>
            <a:r>
              <a:t>Standardization Absence: No industry-wide data sharing protocols</a:t>
            </a:r>
          </a:p>
          <a:p>
            <a:pPr lvl="1"/>
            <a:r>
              <a:t>Integration Complexity: Poor integration with existing IT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PPSDG-F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Privacy-Preserving Synthetic Data Generation Framework (PPSDG-F)</a:t>
            </a:r>
          </a:p>
          <a:p>
            <a:br/>
            <a:pPr>
              <a:defRPr b="1"/>
            </a:pPr>
            <a:r>
              <a:t>Core Innovation: Multi-layered approach combining:</a:t>
            </a:r>
          </a:p>
          <a:p>
            <a:pPr lvl="1"/>
            <a:r>
              <a:t>Federated Generative Learning: Collaborative training without data sharing</a:t>
            </a:r>
          </a:p>
          <a:p>
            <a:pPr lvl="1"/>
            <a:r>
              <a:t>Temporal Differential Privacy: Time-aware privacy for grid time-series</a:t>
            </a:r>
          </a:p>
          <a:p>
            <a:pPr lvl="1"/>
            <a:r>
              <a:t>Blockchain Governance: Secure, auditable data sharing protocols</a:t>
            </a:r>
          </a:p>
          <a:p>
            <a:pPr lvl="1"/>
            <a:r>
              <a:t>Quality-Aware Generation: Multi-metric optimization for utility preservation</a:t>
            </a:r>
          </a:p>
          <a:p>
            <a:pPr lvl="1"/>
            <a:r>
              <a:t>AI-Driven Attack Synthesis: Realistic attack scenario generation</a:t>
            </a:r>
          </a:p>
          <a:p>
            <a:br/>
            <a:pPr>
              <a:defRPr b="1"/>
            </a:pPr>
            <a:r>
              <a:t>Key Differentiators:</a:t>
            </a:r>
          </a:p>
          <a:p>
            <a:pPr lvl="1"/>
            <a:r>
              <a:t>First framework with formal temporal privacy guarantees</a:t>
            </a:r>
          </a:p>
          <a:p>
            <a:pPr lvl="1"/>
            <a:r>
              <a:t>Only solution designed for multi-utility collaboration</a:t>
            </a:r>
          </a:p>
          <a:p>
            <a:pPr lvl="1"/>
            <a:r>
              <a:t>Built-in regulatory compliance (GDPR, CCPA)</a:t>
            </a:r>
          </a:p>
          <a:p>
            <a:pPr lvl="1"/>
            <a:r>
              <a:t>Mathematically provable privacy bounds with utility preservation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PPSDG-F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Multi-Layer Architecture Design:</a:t>
            </a:r>
          </a:p>
          <a:p>
            <a:pPr lvl="1">
              <a:defRPr b="1"/>
            </a:pPr>
            <a:r>
              <a:t>Layer 1: Federated Orchestration</a:t>
            </a:r>
          </a:p>
          <a:p>
            <a:pPr lvl="2"/>
            <a:r>
              <a:t>Federation Coordinator: Multi-party collaboration management</a:t>
            </a:r>
          </a:p>
          <a:p>
            <a:pPr lvl="2"/>
            <a:r>
              <a:t>Privacy Budget Manager: Dynamic privacy allocation</a:t>
            </a:r>
          </a:p>
          <a:p>
            <a:pPr lvl="2"/>
            <a:r>
              <a:t>Quality Assurance Engine: Real-time quality monitoring</a:t>
            </a:r>
          </a:p>
          <a:p>
            <a:pPr lvl="2"/>
            <a:r>
              <a:t>Compliance Monitor: Automated regulatory compliance</a:t>
            </a:r>
          </a:p>
          <a:p>
            <a:pPr lvl="1">
              <a:defRPr b="1"/>
            </a:pPr>
            <a:r>
              <a:t>Layer 2: Utility Nodes (Distributed)</a:t>
            </a:r>
          </a:p>
          <a:p>
            <a:pPr lvl="2"/>
            <a:r>
              <a:t>Local Generators: DP-GAN, DP-VAE, DP-WGAN variants</a:t>
            </a:r>
          </a:p>
          <a:p>
            <a:pPr lvl="2"/>
            <a:r>
              <a:t>Privacy Engines: Temporal DP, noise calibration</a:t>
            </a:r>
          </a:p>
          <a:p>
            <a:pPr lvl="2"/>
            <a:r>
              <a:t>Data Processors: Attack scenarios, operational data</a:t>
            </a:r>
          </a:p>
          <a:p>
            <a:pPr lvl="1">
              <a:defRPr b="1"/>
            </a:pPr>
            <a:r>
              <a:t>Layer 3: Blockchain Governance</a:t>
            </a:r>
          </a:p>
          <a:p>
            <a:pPr lvl="2"/>
            <a:r>
              <a:t>Smart Contracts: Automated access control</a:t>
            </a:r>
          </a:p>
          <a:p>
            <a:pPr lvl="2"/>
            <a:r>
              <a:t>Privacy Ledger: Immutable audit trails</a:t>
            </a:r>
          </a:p>
          <a:p>
            <a:pPr lvl="2"/>
            <a:r>
              <a:t>Incentive Mechanisms: Economic rewards for participation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Algorithmic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Temporal Differential Privacy (TDP)</a:t>
            </a:r>
          </a:p>
          <a:p>
            <a:pPr lvl="1">
              <a:defRPr i="1"/>
            </a:pPr>
            <a:r>
              <a:t>Challenge: Traditional DP fails with time-series correlations</a:t>
            </a:r>
          </a:p>
          <a:p>
            <a:pPr lvl="1"/>
            <a:r>
              <a:t>Solution: Time-window sensitivity analysis with correlated noise</a:t>
            </a:r>
          </a:p>
          <a:p>
            <a:pPr lvl="2"/>
            <a:r>
              <a:t>Adaptive noise calibration based on temporal sensitivity</a:t>
            </a:r>
          </a:p>
          <a:p>
            <a:pPr lvl="2"/>
            <a:r>
              <a:t>Correlation-preserving noise generation</a:t>
            </a:r>
          </a:p>
          <a:p>
            <a:pPr lvl="2"/>
            <a:r>
              <a:t>Kalman filtering for temporal consistency</a:t>
            </a:r>
          </a:p>
          <a:p>
            <a:br/>
            <a:pPr>
              <a:defRPr b="1"/>
            </a:pPr>
            <a:r>
              <a:t>2. Federated Privacy-Preserving GANs (Fed-GAN)</a:t>
            </a:r>
          </a:p>
          <a:p>
            <a:pPr lvl="1">
              <a:defRPr i="1"/>
            </a:pPr>
            <a:r>
              <a:t>Challenge: Standard federated GANs suffer mode collapse</a:t>
            </a:r>
          </a:p>
          <a:p>
            <a:pPr lvl="2"/>
            <a:r>
              <a:t>Homomorphic encryption for parameter sharing</a:t>
            </a:r>
          </a:p>
          <a:p>
            <a:pPr lvl="2"/>
            <a:r>
              <a:t>Byzantine-resilient aggregation protocols</a:t>
            </a:r>
          </a:p>
          <a:p>
            <a:pPr lvl="2"/>
            <a:r>
              <a:t>Dynamic privacy budget management across participants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Our Approach Unique?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 with Existing Solutions:</a:t>
            </a:r>
          </a:p>
          <a:p>
            <a:pPr lvl="1">
              <a:defRPr sz="1400">
                <a:latin typeface="Courier New"/>
              </a:defRPr>
            </a:pPr>
            <a:r>
              <a:t>┌─────────────────┬──────────────┬──────────────┬─────────────┐</a:t>
            </a:r>
          </a:p>
          <a:p>
            <a:pPr lvl="1">
              <a:defRPr sz="1400">
                <a:latin typeface="Courier New"/>
              </a:defRPr>
            </a:pPr>
            <a:r>
              <a:t>│ Feature         │ Traditional  │ Basic Synth  │ PPSDG-F     │</a:t>
            </a:r>
          </a:p>
          <a:p>
            <a:pPr lvl="1">
              <a:defRPr sz="1400">
                <a:latin typeface="Courier New"/>
              </a:defRPr>
            </a:pPr>
            <a:r>
              <a:t>├─────────────────┼──────────────┼──────────────┼─────────────┤</a:t>
            </a:r>
          </a:p>
          <a:p>
            <a:pPr lvl="1">
              <a:defRPr sz="1400">
                <a:latin typeface="Courier New"/>
              </a:defRPr>
            </a:pPr>
            <a:r>
              <a:t>│ Privacy Proof   │ Heuristic    │ None         │ Formal DP   │</a:t>
            </a:r>
          </a:p>
          <a:p>
            <a:pPr lvl="1">
              <a:defRPr sz="1400">
                <a:latin typeface="Courier New"/>
              </a:defRPr>
            </a:pPr>
            <a:r>
              <a:t>│ Temporal Privacy│ ❌           │ ❌           │ ✅ TDP      │</a:t>
            </a:r>
          </a:p>
          <a:p>
            <a:pPr lvl="1">
              <a:defRPr sz="1400">
                <a:latin typeface="Courier New"/>
              </a:defRPr>
            </a:pPr>
            <a:r>
              <a:t>│ Multi-Party     │ ❌           │ ❌           │ ✅ Federated│</a:t>
            </a:r>
          </a:p>
          <a:p>
            <a:pPr lvl="1">
              <a:defRPr sz="1400">
                <a:latin typeface="Courier New"/>
              </a:defRPr>
            </a:pPr>
            <a:r>
              <a:t>│ Quality Metrics │ Basic        │ Moderate     │ ✅ Advanced │</a:t>
            </a:r>
          </a:p>
          <a:p>
            <a:pPr lvl="1">
              <a:defRPr sz="1400">
                <a:latin typeface="Courier New"/>
              </a:defRPr>
            </a:pPr>
            <a:r>
              <a:t>│ Blockchain Gov  │ ❌           │ ❌           │ ✅ Built-in │</a:t>
            </a:r>
          </a:p>
          <a:p>
            <a:pPr lvl="1">
              <a:defRPr sz="1400">
                <a:latin typeface="Courier New"/>
              </a:defRPr>
            </a:pPr>
            <a:r>
              <a:t>│ Attack Synthesis│ Limited      │ Basic        │ ✅ AI-driven│</a:t>
            </a:r>
          </a:p>
          <a:p>
            <a:pPr lvl="1">
              <a:defRPr sz="1400">
                <a:latin typeface="Courier New"/>
              </a:defRPr>
            </a:pPr>
            <a:r>
              <a:t>│ Industry Valid  │ Limited      │ Academic     │ ✅ Multi-util│</a:t>
            </a:r>
          </a:p>
          <a:p>
            <a:pPr lvl="1">
              <a:defRPr sz="1400">
                <a:latin typeface="Courier New"/>
              </a:defRPr>
            </a:pPr>
            <a:r>
              <a:t>└─────────────────┴──────────────┴──────────────┴─────────────┘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Methodology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Multi-Phase Validation Framework:</a:t>
            </a:r>
          </a:p>
          <a:p>
            <a:pPr lvl="1">
              <a:defRPr b="1"/>
            </a:pPr>
            <a:r>
              <a:t>Phase 1: Privacy Analysis (Week 2-3)</a:t>
            </a:r>
          </a:p>
          <a:p>
            <a:pPr lvl="2"/>
            <a:r>
              <a:t>Membership inference attack simulation</a:t>
            </a:r>
          </a:p>
          <a:p>
            <a:pPr lvl="2"/>
            <a:r>
              <a:t>Attribute inference accuracy testing</a:t>
            </a:r>
          </a:p>
          <a:p>
            <a:pPr lvl="2"/>
            <a:r>
              <a:t>Temporal correlation privacy leakage analysis</a:t>
            </a:r>
          </a:p>
          <a:p>
            <a:pPr lvl="2"/>
            <a:r>
              <a:t>Formal verification of (ε,δ)-DP guarantees</a:t>
            </a:r>
          </a:p>
          <a:p>
            <a:pPr lvl="1">
              <a:defRPr b="1"/>
            </a:pPr>
            <a:r>
              <a:t>Phase 2: Quality Assessment (Week 1-2)</a:t>
            </a:r>
          </a:p>
          <a:p>
            <a:pPr lvl="2"/>
            <a:r>
              <a:t>Statistical fidelity: KS-tests, mutual information</a:t>
            </a:r>
          </a:p>
          <a:p>
            <a:pPr lvl="2"/>
            <a:r>
              <a:t>ML utility: downstream model performance analysis</a:t>
            </a:r>
          </a:p>
          <a:p>
            <a:pPr lvl="2"/>
            <a:r>
              <a:t>Domain expert validation: attack realism scoring</a:t>
            </a:r>
          </a:p>
          <a:p>
            <a:pPr lvl="2"/>
            <a:r>
              <a:t>Power system constraint satisfaction testing</a:t>
            </a:r>
          </a:p>
          <a:p>
            <a:pPr lvl="1">
              <a:defRPr b="1"/>
            </a:pPr>
            <a:r>
              <a:t>Phase 3: Federated Evaluation (Week 3-4)</a:t>
            </a:r>
          </a:p>
          <a:p>
            <a:pPr lvl="2"/>
            <a:r>
              <a:t>5-utility collaboration simulation</a:t>
            </a:r>
          </a:p>
          <a:p>
            <a:pPr lvl="2"/>
            <a:r>
              <a:t>Communication efficiency analysis</a:t>
            </a:r>
          </a:p>
          <a:p>
            <a:pPr lvl="2"/>
            <a:r>
              <a:t>Byzantine fault tolerance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Datasets for Validation:</a:t>
            </a:r>
          </a:p>
          <a:p>
            <a:pPr lvl="1"/>
            <a:r>
              <a:t>CICIDS2017-ICS: 8M network flows with labeled cyberattacks</a:t>
            </a:r>
          </a:p>
          <a:p>
            <a:pPr lvl="1"/>
            <a:r>
              <a:t>UCI Smart Grid Stability: 60K power system stability instances</a:t>
            </a:r>
          </a:p>
          <a:p>
            <a:pPr lvl="1"/>
            <a:r>
              <a:t>Electricity Load Diagrams: 2 years Portuguese grid consumer data</a:t>
            </a:r>
          </a:p>
          <a:p>
            <a:pPr lvl="1"/>
            <a:r>
              <a:t>PMU Data: 1 year real transmission measurements (2 utilities)</a:t>
            </a:r>
          </a:p>
          <a:p>
            <a:pPr lvl="1"/>
            <a:r>
              <a:t>IEEE Test Systems: 14, 30, 57, 118, 300 bus configurations</a:t>
            </a:r>
          </a:p>
          <a:p>
            <a:br/>
            <a:pPr>
              <a:defRPr b="1"/>
            </a:pPr>
            <a:r>
              <a:t>Evaluation Metrics Framework:</a:t>
            </a:r>
          </a:p>
          <a:p>
            <a:pPr lvl="1">
              <a:defRPr b="1"/>
            </a:pPr>
            <a:r>
              <a:t>Privacy Metrics:</a:t>
            </a:r>
          </a:p>
          <a:p>
            <a:pPr lvl="2">
              <a:defRPr sz="1400"/>
            </a:pPr>
            <a:r>
              <a:t>Privacy Score = 1 - (α×MIA_success + β×AIA_accuracy + γ×MIV_quality)</a:t>
            </a:r>
          </a:p>
          <a:p>
            <a:pPr lvl="2">
              <a:defRPr sz="1400"/>
            </a:pPr>
            <a:r>
              <a:t>Differential Privacy Verification: (ε≤1.0, δ≤10^-5) target</a:t>
            </a:r>
          </a:p>
          <a:p>
            <a:pPr lvl="2">
              <a:defRPr sz="1400"/>
            </a:pPr>
            <a:r>
              <a:t>Temporal Privacy Leakage: &lt;5% information leakage target</a:t>
            </a:r>
          </a:p>
          <a:p>
            <a:pPr lvl="1">
              <a:defRPr b="1"/>
            </a:pPr>
            <a:r>
              <a:t>Utility Metrics:</a:t>
            </a:r>
          </a:p>
          <a:p>
            <a:pPr lvl="2">
              <a:defRPr sz="1400"/>
            </a:pPr>
            <a:r>
              <a:t>Statistical Fidelity: KS-test p&gt;0.05, correlation preservation</a:t>
            </a:r>
          </a:p>
          <a:p>
            <a:pPr lvl="2">
              <a:defRPr sz="1400"/>
            </a:pPr>
            <a:r>
              <a:t>ML Performance: &lt;5% degradation in downstream models</a:t>
            </a:r>
          </a:p>
          <a:p>
            <a:pPr lvl="2">
              <a:defRPr sz="1400"/>
            </a:pPr>
            <a:r>
              <a:t>Expert Validation: &gt;8.5/10 attack realism score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 &amp; Performance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Quantitative Performance Targets:</a:t>
            </a:r>
          </a:p>
          <a:p>
            <a:pPr lvl="1">
              <a:defRPr b="1"/>
            </a:pPr>
            <a:r>
              <a:t>Privacy Preservation Goals:</a:t>
            </a:r>
          </a:p>
          <a:p>
            <a:pPr lvl="2"/>
            <a:r>
              <a:t>Achieve (ε≤1.0, δ≤10^-5) differential privacy guarantees</a:t>
            </a:r>
          </a:p>
          <a:p>
            <a:pPr lvl="2"/>
            <a:r>
              <a:t>&lt;10% success rate for membership inference attacks</a:t>
            </a:r>
          </a:p>
          <a:p>
            <a:pPr lvl="2"/>
            <a:r>
              <a:t>&lt;5% temporal privacy leakage through correlation analysis</a:t>
            </a:r>
          </a:p>
          <a:p>
            <a:pPr lvl="2"/>
            <a:r>
              <a:t>100% automated verification of privacy claims</a:t>
            </a:r>
          </a:p>
          <a:p>
            <a:pPr lvl="1">
              <a:defRPr b="1"/>
            </a:pPr>
            <a:r>
              <a:t>Data Quality Objectives:</a:t>
            </a:r>
          </a:p>
          <a:p>
            <a:pPr lvl="2"/>
            <a:r>
              <a:t>&gt;95% statistical similarity (KS-test p&gt;0.05)</a:t>
            </a:r>
          </a:p>
          <a:p>
            <a:pPr lvl="2"/>
            <a:r>
              <a:t>&lt;5% ML performance degradation vs. real data</a:t>
            </a:r>
          </a:p>
          <a:p>
            <a:pPr lvl="2"/>
            <a:r>
              <a:t>&gt;8.5/10 expert realism score for attack scenarios</a:t>
            </a:r>
          </a:p>
          <a:p>
            <a:pPr lvl="2"/>
            <a:r>
              <a:t>&gt;99% power system constraint satisfaction</a:t>
            </a:r>
          </a:p>
          <a:p>
            <a:pPr lvl="1">
              <a:defRPr b="1"/>
            </a:pPr>
            <a:r>
              <a:t>System Performance Targets:</a:t>
            </a:r>
          </a:p>
          <a:p>
            <a:pPr lvl="2"/>
            <a:r>
              <a:t>&lt;1 hour generation time for 1M record datasets</a:t>
            </a:r>
          </a:p>
          <a:p>
            <a:pPr lvl="2"/>
            <a:r>
              <a:t>Support 10+ utility collaboration</a:t>
            </a:r>
          </a:p>
          <a:p>
            <a:pPr lvl="2"/>
            <a:r>
              <a:t>&lt;50% bandwidth overhead vs. centralized approaches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One-Month Implementation Roadmap (Week 1-2)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Foundation &amp; Design (Days 1-7)</a:t>
            </a:r>
          </a:p>
          <a:p>
            <a:pPr lvl="1">
              <a:defRPr b="1"/>
            </a:pPr>
            <a:r>
              <a:t>Days 1-2: Literature Analysis</a:t>
            </a:r>
          </a:p>
          <a:p>
            <a:pPr lvl="2"/>
            <a:r>
              <a:t>Morning: Comprehensive review of 20+ recent papers</a:t>
            </a:r>
          </a:p>
          <a:p>
            <a:pPr lvl="2"/>
            <a:r>
              <a:t>Afternoon: Gap analysis and problem refinement</a:t>
            </a:r>
          </a:p>
          <a:p>
            <a:pPr lvl="2"/>
            <a:r>
              <a:t>Deliverable: Literature survey report</a:t>
            </a:r>
          </a:p>
          <a:p>
            <a:pPr lvl="1">
              <a:defRPr b="1"/>
            </a:pPr>
            <a:r>
              <a:t>Days 3-4: System Architecture Design</a:t>
            </a:r>
          </a:p>
          <a:p>
            <a:pPr lvl="2"/>
            <a:r>
              <a:t>High-level architecture design and components</a:t>
            </a:r>
          </a:p>
          <a:p>
            <a:pPr lvl="2"/>
            <a:r>
              <a:t>Temporal differential privacy algorithm design</a:t>
            </a:r>
          </a:p>
          <a:p>
            <a:pPr lvl="2"/>
            <a:r>
              <a:t>Deliverable: Architecture document + pseudocode</a:t>
            </a:r>
          </a:p>
          <a:p>
            <a:pPr lvl="1">
              <a:defRPr b="1"/>
            </a:pPr>
            <a:r>
              <a:t>Days 5-7: Baseline Implementation</a:t>
            </a:r>
          </a:p>
          <a:p>
            <a:pPr lvl="2"/>
            <a:r>
              <a:t>Environment setup, basic synthetic data generation</a:t>
            </a:r>
          </a:p>
          <a:p>
            <a:pPr lvl="2"/>
            <a:r>
              <a:t>Initial differential privacy mechanisms</a:t>
            </a:r>
          </a:p>
          <a:p>
            <a:pPr lvl="2"/>
            <a:r>
              <a:t>Federated learning framework setup</a:t>
            </a:r>
          </a:p>
          <a:p>
            <a:pPr lvl="2"/>
            <a:r>
              <a:t>Deliverable: Working baseline + test results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 (Week 2-4)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2: Core Development (Days 8-14)</a:t>
            </a:r>
          </a:p>
          <a:p>
            <a:pPr lvl="1"/>
            <a:r>
              <a:t>Days 8-10: Temporal Differential Privacy implementation</a:t>
            </a:r>
          </a:p>
          <a:p>
            <a:pPr lvl="1"/>
            <a:r>
              <a:t>Days 11-12: Fed-GAN architecture &amp; secure aggregation</a:t>
            </a:r>
          </a:p>
          <a:p>
            <a:pPr lvl="1"/>
            <a:r>
              <a:t>Days 13-14: Quality metrics &amp; evaluation framework</a:t>
            </a:r>
          </a:p>
          <a:p>
            <a:pPr lvl="1"/>
            <a:r>
              <a:t>Deliverables: TDP implementation, Fed-GAN prototype</a:t>
            </a:r>
          </a:p>
          <a:p>
            <a:br/>
            <a:pPr>
              <a:defRPr b="1"/>
            </a:pPr>
            <a:r>
              <a:t>Week 3: Advanced Features (Days 15-21)</a:t>
            </a:r>
          </a:p>
          <a:p>
            <a:pPr lvl="1"/>
            <a:r>
              <a:t>Days 15-16: Blockchain governance layer development</a:t>
            </a:r>
          </a:p>
          <a:p>
            <a:pPr lvl="1"/>
            <a:r>
              <a:t>Days 17-18: AI-driven attack scenario generation</a:t>
            </a:r>
          </a:p>
          <a:p>
            <a:pPr lvl="1"/>
            <a:r>
              <a:t>Days 19-21: End-to-end integration &amp; optimization</a:t>
            </a:r>
          </a:p>
          <a:p>
            <a:pPr lvl="1"/>
            <a:r>
              <a:t>Deliverables: Complete PPSDG-F system</a:t>
            </a:r>
          </a:p>
          <a:p>
            <a:br/>
            <a:pPr>
              <a:defRPr b="1"/>
            </a:pPr>
            <a:r>
              <a:t>Week 4: Evaluation &amp; Documentation (Days 22-28)</a:t>
            </a:r>
          </a:p>
          <a:p>
            <a:pPr lvl="1"/>
            <a:r>
              <a:t>Days 22-23: Comprehensive privacy &amp; quality evaluation</a:t>
            </a:r>
          </a:p>
          <a:p>
            <a:pPr lvl="1"/>
            <a:r>
              <a:t>Days 24-25: Industry validation setup &amp; pilot testing</a:t>
            </a:r>
          </a:p>
          <a:p>
            <a:pPr lvl="1"/>
            <a:r>
              <a:t>Days 26-28: Paper writing, presentation &amp; final report</a:t>
            </a:r>
          </a:p>
          <a:p>
            <a:pPr lvl="1"/>
            <a:r>
              <a:t>Deliverables: Technical paper, presentation, final report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Comparison with 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Methods for Comparison:</a:t>
            </a:r>
          </a:p>
          <a:p>
            <a:pPr lvl="1">
              <a:defRPr b="1"/>
            </a:pPr>
            <a:r>
              <a:t>Privacy-Preserving Methods:</a:t>
            </a:r>
          </a:p>
          <a:p>
            <a:pPr lvl="2"/>
            <a:r>
              <a:t>k-Anonymity with l-Diversity: Traditional anonymization</a:t>
            </a:r>
          </a:p>
          <a:p>
            <a:pPr lvl="2"/>
            <a:r>
              <a:t>DPGAN (Xie et al.): Differentially private GANs</a:t>
            </a:r>
          </a:p>
          <a:p>
            <a:pPr lvl="2"/>
            <a:r>
              <a:t>PrivBayes (Zhang et al.): DP Bayesian networks</a:t>
            </a:r>
          </a:p>
          <a:p>
            <a:pPr lvl="2"/>
            <a:r>
              <a:t>PATEGAN (Jordon et al.): Private teacher ensembles</a:t>
            </a:r>
          </a:p>
          <a:p>
            <a:pPr lvl="1">
              <a:defRPr b="1"/>
            </a:pPr>
            <a:r>
              <a:t>Synthetic Data Generation:</a:t>
            </a:r>
          </a:p>
          <a:p>
            <a:pPr lvl="2"/>
            <a:r>
              <a:t>CTGAN (Xu et al.): Conditional tabular GANs</a:t>
            </a:r>
          </a:p>
          <a:p>
            <a:pPr lvl="2"/>
            <a:r>
              <a:t>TableGAN (Park et al.): GANs for tabular data</a:t>
            </a:r>
          </a:p>
          <a:p>
            <a:pPr lvl="2"/>
            <a:r>
              <a:t>TVAE (Xu et al.): Variational autoencoders</a:t>
            </a:r>
          </a:p>
          <a:p>
            <a:pPr lvl="2"/>
            <a:r>
              <a:t>CopulaGAN: Gaussian copula generation</a:t>
            </a:r>
          </a:p>
          <a:p>
            <a:pPr lvl="1">
              <a:defRPr b="1"/>
            </a:pPr>
            <a:r>
              <a:t>Expected Improvements:</a:t>
            </a:r>
          </a:p>
          <a:p>
            <a:pPr lvl="2"/>
            <a:r>
              <a:t>5x better privacy-utility trade-off vs. DPGAN</a:t>
            </a:r>
          </a:p>
          <a:p>
            <a:pPr lvl="2"/>
            <a:r>
              <a:t>10x more comprehensive attack coverage vs. TableGAN</a:t>
            </a:r>
          </a:p>
          <a:p>
            <a:pPr lvl="2"/>
            <a:r>
              <a:t>3x better temporal consistency vs. existing methods</a:t>
            </a:r>
          </a:p>
          <a:p>
            <a:pPr lvl="2"/>
            <a:r>
              <a:t>First framework with formal temporal privacy guarantees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Impact:</a:t>
            </a:r>
          </a:p>
          <a:p>
            <a:pPr lvl="1"/>
            <a:r>
              <a:t>Theoretical: First temporal differential privacy framework</a:t>
            </a:r>
          </a:p>
          <a:p>
            <a:pPr lvl="1"/>
            <a:r>
              <a:t>Algorithmic: Novel Fed-GAN with privacy preservation</a:t>
            </a:r>
          </a:p>
          <a:p>
            <a:pPr lvl="1"/>
            <a:r>
              <a:t>Practical: Industry-ready multi-utility collaboration platform</a:t>
            </a:r>
          </a:p>
          <a:p>
            <a:pPr lvl="1"/>
            <a:r>
              <a:t>Open Source: Framework available under Apache 2.0 license</a:t>
            </a:r>
          </a:p>
          <a:p>
            <a:br/>
            <a:pPr>
              <a:defRPr b="1"/>
            </a:pPr>
            <a:r>
              <a:t>Industry Benefits:</a:t>
            </a:r>
          </a:p>
          <a:p>
            <a:pPr lvl="1"/>
            <a:r>
              <a:t>10x increase in available cybersecurity training data</a:t>
            </a:r>
          </a:p>
          <a:p>
            <a:pPr lvl="1"/>
            <a:r>
              <a:t>$2-5M per utility savings in data collection costs</a:t>
            </a:r>
          </a:p>
          <a:p>
            <a:pPr lvl="1"/>
            <a:r>
              <a:t>Accelerated security system development and validation</a:t>
            </a:r>
          </a:p>
          <a:p>
            <a:pPr lvl="1"/>
            <a:r>
              <a:t>Built-in regulatory compliance (GDPR, CCPA)</a:t>
            </a:r>
          </a:p>
          <a:p>
            <a:br/>
            <a:pPr>
              <a:defRPr b="1"/>
            </a:pPr>
            <a:r>
              <a:t>Future Research Directions:</a:t>
            </a:r>
          </a:p>
          <a:p>
            <a:pPr lvl="1"/>
            <a:r>
              <a:t>Quantum-safe privacy mechanisms for post-quantum era</a:t>
            </a:r>
          </a:p>
          <a:p>
            <a:pPr lvl="1"/>
            <a:r>
              <a:t>Real-time streaming data generation for live systems</a:t>
            </a:r>
          </a:p>
          <a:p>
            <a:pPr lvl="1"/>
            <a:r>
              <a:t>Cross-sector adaptation (water, gas, transportation)</a:t>
            </a:r>
          </a:p>
          <a:p>
            <a:pPr lvl="1"/>
            <a:r>
              <a:t>Integration with digital twin technologies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Discussion Points:</a:t>
            </a:r>
          </a:p>
          <a:p>
            <a:pPr lvl="1"/>
            <a:r>
              <a:t>How can we best balance privacy and utility for your specific use case?</a:t>
            </a:r>
          </a:p>
          <a:p>
            <a:pPr lvl="1"/>
            <a:r>
              <a:t>What additional validation would strengthen the research approach?</a:t>
            </a:r>
          </a:p>
          <a:p>
            <a:pPr lvl="1"/>
            <a:r>
              <a:t>Which baseline comparisons would be most valuable for your domain?</a:t>
            </a:r>
          </a:p>
          <a:p>
            <a:pPr lvl="1"/>
            <a:r>
              <a:t>How can we facilitate industry adoption of the framework?</a:t>
            </a:r>
          </a:p>
          <a:p>
            <a:pPr lvl="1"/>
            <a:r>
              <a:t>What regulatory compliance aspects are most critical?</a:t>
            </a:r>
          </a:p>
          <a:p>
            <a:br/>
            <a:pPr>
              <a:defRPr b="1"/>
            </a:pPr>
            <a:r>
              <a:t>Next Steps:</a:t>
            </a:r>
          </a:p>
          <a:p>
            <a:pPr lvl="1"/>
            <a:r>
              <a:t>Begin Week 1 implementation (literature review complete)</a:t>
            </a:r>
          </a:p>
          <a:p>
            <a:pPr lvl="1"/>
            <a:r>
              <a:t>Establish utility partnerships for real-world validation</a:t>
            </a:r>
          </a:p>
          <a:p>
            <a:pPr lvl="1"/>
            <a:r>
              <a:t>Set up development environment and baseline implementations</a:t>
            </a:r>
          </a:p>
          <a:p>
            <a:pPr lvl="1"/>
            <a:r>
              <a:t>Prepare conference/journal submission timeline</a:t>
            </a:r>
          </a:p>
          <a:p>
            <a:br/>
            <a:pPr algn="ctr">
              <a:defRPr b="1"/>
            </a:pPr>
            <a:r>
              <a:t>Contact: [student.email@university.edu]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[1] Wang, L., et al. (2024). "Privacy-Aware Synthetic Data Generation for Smart Grid Cybersecurity: A Systematic Review." IEEE Transactions on Information Forensics and Security, 19, 1124-1139.</a:t>
            </a:r>
          </a:p>
          <a:p>
            <a:pPr>
              <a:defRPr sz="1400"/>
            </a:pPr>
            <a:r>
              <a:t>[2] Zhang, K., et al. (2024). "Differential Privacy in Smart Grid Data Publishing: Challenges and Opportunities." IEEE Transactions on Smart Grid, 15(2), 1456-1468.</a:t>
            </a:r>
          </a:p>
          <a:p>
            <a:pPr>
              <a:defRPr sz="1400"/>
            </a:pPr>
            <a:r>
              <a:t>[3] Liu, S., et al. (2023). "Federated Learning for Privacy-Preserving Anomaly Detection in Smart Grids: A Comprehensive Study." Computer Networks, 218, 109387.</a:t>
            </a:r>
          </a:p>
          <a:p>
            <a:pPr>
              <a:defRPr sz="1400"/>
            </a:pPr>
            <a:r>
              <a:t>[4] Chen, M., et al. (2023). "Generative Adversarial Networks for Smart Grid Cybersecurity Data Augmentation: A Privacy-Preserving Approach." IEEE Transactions on Industrial Informatics, 19(8), 8734-8743.</a:t>
            </a:r>
          </a:p>
          <a:p>
            <a:pPr>
              <a:defRPr sz="1400"/>
            </a:pPr>
            <a:r>
              <a:t>[5] Rodriguez, A., et al. (2023). "Blockchain-Enabled Secure Data Sharing for Smart Grid Cybersecurity Research." IEEE Transactions on Dependable and Secure Computing, 20(4), 2847-2859.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