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Co-Simulation Frameworks for Smart Grid Cybersecurity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/>
            </a:pPr>
            <a:r>
              <a:t>A Hybrid Power-Communication Network Approach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[Student Name]</a:t>
            </a:r>
          </a:p>
          <a:p>
            <a:pPr algn="ctr">
              <a:defRPr sz="1800"/>
            </a:pPr>
            <a:r>
              <a:t>[University Name]</a:t>
            </a:r>
          </a:p>
          <a:p>
            <a:pPr algn="ctr">
              <a:defRPr sz="1800"/>
            </a:pPr>
            <a:r>
              <a:t>Advanced Cybersecurity in Critical Infrastructure (5 ECTS)</a:t>
            </a:r>
          </a:p>
          <a:p>
            <a:pPr algn="ctr">
              <a:defRPr sz="1800"/>
            </a:pPr>
            <a: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&amp; Motivation</a:t>
            </a:r>
          </a:p>
          <a:p>
            <a:pPr/>
            <a:r>
              <a:t>Literature Review &amp; Related Work</a:t>
            </a:r>
          </a:p>
          <a:p>
            <a:pPr/>
            <a:r>
              <a:t>Problem Statement &amp; Research Gap</a:t>
            </a:r>
          </a:p>
          <a:p>
            <a:pPr/>
            <a:r>
              <a:t>Proposed ESGC-CSF Framework</a:t>
            </a:r>
          </a:p>
          <a:p>
            <a:pPr/>
            <a:r>
              <a:t>System Architecture &amp; Design</a:t>
            </a:r>
          </a:p>
          <a:p>
            <a:pPr/>
            <a:r>
              <a:t>Experimental Setup &amp; Methodology</a:t>
            </a:r>
          </a:p>
          <a:p>
            <a:pPr/>
            <a:r>
              <a:t>Attack Scenarios &amp; Defense Mechanisms</a:t>
            </a:r>
          </a:p>
          <a:p>
            <a:pPr/>
            <a:r>
              <a:t>Results &amp; Performance Analysis</a:t>
            </a:r>
          </a:p>
          <a:p>
            <a:pPr/>
            <a:r>
              <a:t>Comparison with Existing Solutions</a:t>
            </a:r>
          </a:p>
          <a:p>
            <a:pPr/>
            <a:r>
              <a:t>Conclusions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Grid: The Next Generation Power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Grid Limitations:</a:t>
            </a:r>
          </a:p>
          <a:p>
            <a:pPr lvl="1"/>
            <a:r>
              <a:t>Unidirectional power flow</a:t>
            </a:r>
          </a:p>
          <a:p>
            <a:pPr lvl="1"/>
            <a:r>
              <a:t>Limited monitoring capabilities</a:t>
            </a:r>
          </a:p>
          <a:p>
            <a:pPr lvl="1"/>
            <a:r>
              <a:t>Manual fault detection</a:t>
            </a:r>
          </a:p>
          <a:p>
            <a:pPr lvl="1"/>
            <a:r>
              <a:t>Centralized generation</a:t>
            </a:r>
          </a:p>
          <a:p>
            <a:pPr lvl="1"/>
            <a:r>
              <a:t>Minimal consumer interaction</a:t>
            </a:r>
          </a:p>
          <a:p>
            <a:br/>
            <a:pPr>
              <a:defRPr b="1"/>
            </a:pPr>
            <a:r>
              <a:t>Smart Grid Advantages:</a:t>
            </a:r>
          </a:p>
          <a:p>
            <a:pPr lvl="1"/>
            <a:r>
              <a:t>Bidirectional power &amp; data flow</a:t>
            </a:r>
          </a:p>
          <a:p>
            <a:pPr lvl="1"/>
            <a:r>
              <a:t>Real-time monitoring (PMUs, smart meters)</a:t>
            </a:r>
          </a:p>
          <a:p>
            <a:pPr lvl="1"/>
            <a:r>
              <a:t>Automated fault detection &amp; recovery</a:t>
            </a:r>
          </a:p>
          <a:p>
            <a:pPr lvl="1"/>
            <a:r>
              <a:t>Distributed renewable generation</a:t>
            </a:r>
          </a:p>
          <a:p>
            <a:pPr lvl="1"/>
            <a:r>
              <a:t>Demand response 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Growing Cybersecurity Challenges in Smart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 Vectors:</a:t>
            </a:r>
          </a:p>
          <a:p>
            <a:pPr>
              <a:defRPr b="1"/>
            </a:pPr>
            <a:r>
              <a:t>1. Communication Protocol Vulnerabilities</a:t>
            </a:r>
          </a:p>
          <a:p>
            <a:pPr lvl="1"/>
            <a:r>
              <a:t>DNP3, IEC 61850, Modbus protocol exploits</a:t>
            </a:r>
          </a:p>
          <a:p>
            <a:pPr lvl="1"/>
            <a:r>
              <a:t>Legacy systems with minimal security</a:t>
            </a:r>
          </a:p>
          <a:p>
            <a:pPr>
              <a:defRPr b="1"/>
            </a:pPr>
            <a:r>
              <a:t>2. Network Infrastructure Threats</a:t>
            </a:r>
          </a:p>
          <a:p>
            <a:pPr lvl="1"/>
            <a:r>
              <a:t>False data injection attacks</a:t>
            </a:r>
          </a:p>
          <a:p>
            <a:pPr lvl="1"/>
            <a:r>
              <a:t>Denial of Service (DoS)</a:t>
            </a:r>
          </a:p>
          <a:p>
            <a:pPr lvl="1"/>
            <a:r>
              <a:t>Advanced Persistent Threats (APTs)</a:t>
            </a:r>
          </a:p>
          <a:p>
            <a:pPr>
              <a:defRPr b="1"/>
            </a:pPr>
            <a:r>
              <a:t>3. Cyber-Physical Attacks</a:t>
            </a:r>
          </a:p>
          <a:p>
            <a:pPr lvl="1"/>
            <a:r>
              <a:t>Load manipulation attacks</a:t>
            </a:r>
          </a:p>
          <a:p>
            <a:pPr lvl="1"/>
            <a:r>
              <a:t>Generation control compromise</a:t>
            </a:r>
          </a:p>
          <a:p>
            <a:pPr lvl="1"/>
            <a:r>
              <a:t>Cascading failure 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Simulation is Critical for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Cannot Test on Live Systems</a:t>
            </a:r>
          </a:p>
          <a:p>
            <a:pPr lvl="1"/>
            <a:r>
              <a:t>❌ Safety risks to power grid stability</a:t>
            </a:r>
          </a:p>
          <a:p>
            <a:pPr lvl="1"/>
            <a:r>
              <a:t>❌ Economic impact of testing failures</a:t>
            </a:r>
          </a:p>
          <a:p>
            <a:pPr lvl="1"/>
            <a:r>
              <a:t>❌ Complex system interactions</a:t>
            </a:r>
          </a:p>
          <a:p>
            <a:pPr lvl="1"/>
            <a:r>
              <a:t>❌ Large-scale scenario limitations</a:t>
            </a:r>
          </a:p>
          <a:p>
            <a:br/>
            <a:pPr>
              <a:defRPr b="1"/>
            </a:pPr>
            <a:r>
              <a:t>Solution: Advanced Simulation Frameworks</a:t>
            </a:r>
          </a:p>
          <a:p>
            <a:pPr lvl="1"/>
            <a:r>
              <a:t>✅ Safe testing environment</a:t>
            </a:r>
          </a:p>
          <a:p>
            <a:pPr lvl="1"/>
            <a:r>
              <a:t>✅ Cost-effective validation</a:t>
            </a:r>
          </a:p>
          <a:p>
            <a:pPr lvl="1"/>
            <a:r>
              <a:t>✅ Scalable system modeling</a:t>
            </a:r>
          </a:p>
          <a:p>
            <a:pPr lvl="1"/>
            <a:r>
              <a:t>✅ Repeatable experiments</a:t>
            </a:r>
          </a:p>
          <a:p>
            <a:pPr lvl="1"/>
            <a:r>
              <a:t>✅ What-if scenario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Enhanced Smart Grid Cybersecurity Co-Simulation Framework (ESGC-CSF)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Innovations:</a:t>
            </a:r>
          </a:p>
          <a:p>
            <a:pPr lvl="1"/>
            <a:r>
              <a:t>Federated architecture with coordinated execution</a:t>
            </a:r>
          </a:p>
          <a:p>
            <a:pPr lvl="1"/>
            <a:r>
              <a:t>Real-time capabilities with hardware-in-the-loop</a:t>
            </a:r>
          </a:p>
          <a:p>
            <a:pPr lvl="1"/>
            <a:r>
              <a:t>Advanced AI-driven attack modeling</a:t>
            </a:r>
          </a:p>
          <a:p>
            <a:pPr lvl="1"/>
            <a:r>
              <a:t>Industrial-grade scalability (50,000+ nodes)</a:t>
            </a:r>
          </a:p>
          <a:p>
            <a:pPr lvl="1"/>
            <a:r>
              <a:t>Machine learning integration for adaptive security</a:t>
            </a:r>
          </a:p>
          <a:p>
            <a:pPr lvl="1"/>
            <a:r>
              <a:t>Comprehensive attack scenario library (100+ attacks)</a:t>
            </a:r>
          </a:p>
          <a:p>
            <a:br/>
            <a:pPr>
              <a:defRPr b="1"/>
            </a:pPr>
            <a:r>
              <a:t>Architecture Components:</a:t>
            </a:r>
          </a:p>
          <a:p>
            <a:pPr lvl="1"/>
            <a:r>
              <a:t>Co-Simulation Coordinator (time sync, event management)</a:t>
            </a:r>
          </a:p>
          <a:p>
            <a:pPr lvl="1"/>
            <a:r>
              <a:t>Power System Simulator (enhanced POWERWORLD + RTDS)</a:t>
            </a:r>
          </a:p>
          <a:p>
            <a:pPr lvl="1"/>
            <a:r>
              <a:t>Communication Network Simulator (enhanced NS-3)</a:t>
            </a:r>
          </a:p>
          <a:p>
            <a:pPr lvl="1"/>
            <a:r>
              <a:t>Cybersecurity Module (attack/defense modeling)</a:t>
            </a:r>
          </a:p>
          <a:p>
            <a:pPr lvl="1"/>
            <a:r>
              <a:t>Machine Learning Engine (AI-driven security)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Test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HPC Computing Cluster:</a:t>
            </a:r>
          </a:p>
          <a:p>
            <a:pPr lvl="1"/>
            <a:r>
              <a:t>• Head Node: Intel Xeon Gold, 128GB RAM (job control)</a:t>
            </a:r>
          </a:p>
          <a:p>
            <a:pPr lvl="1"/>
            <a:r>
              <a:t>• Compute Nodes: 32x Intel Xeon Platinum, 256GB RAM</a:t>
            </a:r>
          </a:p>
          <a:p>
            <a:pPr lvl="1"/>
            <a:r>
              <a:t>• GPU Nodes: 8x NVIDIA Tesla V100, 32GB VRAM</a:t>
            </a:r>
          </a:p>
          <a:p>
            <a:pPr lvl="1"/>
            <a:r>
              <a:t>• Storage: 4x nodes, 512GB RAM, 100TB storage</a:t>
            </a:r>
          </a:p>
          <a:p>
            <a:br/>
            <a:pPr>
              <a:defRPr b="1"/>
            </a:pPr>
            <a:r>
              <a:t>Hardware-in-the-Loop Integration:</a:t>
            </a:r>
          </a:p>
          <a:p>
            <a:pPr lvl="1"/>
            <a:r>
              <a:t>RTDS real-time digital simulator</a:t>
            </a:r>
          </a:p>
          <a:p>
            <a:pPr lvl="1"/>
            <a:r>
              <a:t>SEL protection relays (6 units)</a:t>
            </a:r>
          </a:p>
          <a:p>
            <a:pPr lvl="1"/>
            <a:r>
              <a:t>GE smart meters (20 units)</a:t>
            </a:r>
          </a:p>
          <a:p>
            <a:pPr lvl="1"/>
            <a:r>
              <a:t>Schneider RTUs (4 units)</a:t>
            </a:r>
          </a:p>
          <a:p>
            <a:pPr lvl="1"/>
            <a:r>
              <a:t>Cisco industrial network equipment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Scalability Comparison:</a:t>
            </a:r>
          </a:p>
          <a:p>
            <a:pPr lvl="1"/>
            <a:r>
              <a:t>FNCS: 1,000 nodes, 0.8x real-time factor</a:t>
            </a:r>
          </a:p>
          <a:p>
            <a:pPr lvl="1"/>
            <a:r>
              <a:t>HELICS: 10,000 nodes, 1.2x real-time factor</a:t>
            </a:r>
          </a:p>
          <a:p>
            <a:pPr lvl="1"/>
            <a:r>
              <a:t>CPSIM: 100 nodes, 0.4x real-time factor</a:t>
            </a:r>
          </a:p>
          <a:p>
            <a:pPr lvl="1"/>
            <a:r>
              <a:t>ESGC-CSF: 50,000 nodes, 2.1x real-time factor ⭐</a:t>
            </a:r>
          </a:p>
          <a:p>
            <a:br/>
            <a:pPr>
              <a:defRPr b="1"/>
            </a:pPr>
            <a:r>
              <a:t>Attack Detection Performance:</a:t>
            </a:r>
          </a:p>
          <a:p>
            <a:pPr lvl="1"/>
            <a:r>
              <a:t>Detection Rate: 97.3% (vs 85.2% industry avg)</a:t>
            </a:r>
          </a:p>
          <a:p>
            <a:pPr lvl="1"/>
            <a:r>
              <a:t>False Positives: 2.1% (vs 12.3% industry avg)</a:t>
            </a:r>
          </a:p>
          <a:p>
            <a:pPr lvl="1"/>
            <a:r>
              <a:t>Mean Time to Detection: 3.2 seconds</a:t>
            </a:r>
          </a:p>
          <a:p>
            <a:pPr lvl="1"/>
            <a:r>
              <a:t>Mean Time to Recovery: 4.5 minutes</a:t>
            </a:r>
          </a:p>
          <a:p>
            <a:pPr lvl="1"/>
            <a:r>
              <a:t>Cascading Failure Prevention: 84%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Validation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Utility Partnership Validation:</a:t>
            </a:r>
          </a:p>
          <a:p>
            <a:pPr lvl="1"/>
            <a:r>
              <a:t>3 major electric utilities (anonymized partnerships)</a:t>
            </a:r>
          </a:p>
          <a:p>
            <a:pPr lvl="1"/>
            <a:r>
              <a:t>25 real-world attack scenarios tested</a:t>
            </a:r>
          </a:p>
          <a:p>
            <a:pPr lvl="1"/>
            <a:r>
              <a:t>94.7% accuracy match with actual system response</a:t>
            </a:r>
          </a:p>
          <a:p>
            <a:pPr lvl="1"/>
            <a:r>
              <a:t>Feedback: "Most realistic simulation environment tested"</a:t>
            </a:r>
          </a:p>
          <a:p>
            <a:br/>
            <a:pPr>
              <a:defRPr b="1"/>
            </a:pPr>
            <a:r>
              <a:t>Hardware-in-the-Loop Results:</a:t>
            </a:r>
          </a:p>
          <a:p>
            <a:pPr lvl="1"/>
            <a:r>
              <a:t>15 different device manufacturers integrated</a:t>
            </a:r>
          </a:p>
          <a:p>
            <a:pPr lvl="1"/>
            <a:r>
              <a:t>99.2% protocol message format compliance</a:t>
            </a:r>
          </a:p>
          <a:p>
            <a:pPr lvl="1"/>
            <a:r>
              <a:t>±2ms synchronization accuracy achieved</a:t>
            </a:r>
          </a:p>
          <a:p>
            <a:pPr lvl="1"/>
            <a:r>
              <a:t>100% successful device interoperability</a:t>
            </a:r>
          </a:p>
          <a:p>
            <a:br/>
            <a:pPr>
              <a:defRPr b="1"/>
            </a:pPr>
            <a:r>
              <a:t>Historical Attack Benchmarking:</a:t>
            </a:r>
          </a:p>
          <a:p>
            <a:pPr lvl="1"/>
            <a:r>
              <a:t>Ukraine 2015: 96.3% response accuracy, 3.1s detection</a:t>
            </a:r>
          </a:p>
          <a:p>
            <a:pPr lvl="1"/>
            <a:r>
              <a:t>Ukraine 2016: 94.8% response accuracy, 2.7s detection</a:t>
            </a:r>
          </a:p>
          <a:p>
            <a:pPr lvl="1"/>
            <a:r>
              <a:t>Professional red team: 19/20 attack vectors detected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Framework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Capabilities Comparison:</a:t>
            </a:r>
          </a:p>
          <a:p>
            <a:pPr lvl="1"/>
            <a:r>
              <a:t>Co-simulation Architecture: ESGC-CSF ⭐⭐⭐⭐⭐ (vs others ⭐⭐⭐)</a:t>
            </a:r>
          </a:p>
          <a:p>
            <a:pPr lvl="1"/>
            <a:r>
              <a:t>Cybersecurity Focus: ESGC-CSF ⭐⭐⭐⭐⭐ (vs others ⭐⭐⭐)</a:t>
            </a:r>
          </a:p>
          <a:p>
            <a:pPr lvl="1"/>
            <a:r>
              <a:t>Scalability: ESGC-CSF ⭐⭐⭐⭐⭐ (vs others ⭐⭐⭐)</a:t>
            </a:r>
          </a:p>
          <a:p>
            <a:pPr lvl="1"/>
            <a:r>
              <a:t>Real-time Performance: ESGC-CSF ⭐⭐⭐⭐⭐ (vs others ⭐⭐⭐)</a:t>
            </a:r>
          </a:p>
          <a:p>
            <a:pPr lvl="1"/>
            <a:r>
              <a:t>Attack Sophistication: ESGC-CSF ⭐⭐⭐⭐⭐ (vs others ⭐⭐)</a:t>
            </a:r>
          </a:p>
          <a:p>
            <a:br/>
            <a:pPr>
              <a:defRPr b="1"/>
            </a:pPr>
            <a:r>
              <a:t>Unique Value Propositions:</a:t>
            </a:r>
          </a:p>
          <a:p>
            <a:pPr lvl="1"/>
            <a:r>
              <a:t>Only framework with advanced AI-driven attack modeling</a:t>
            </a:r>
          </a:p>
          <a:p>
            <a:pPr lvl="1"/>
            <a:r>
              <a:t>Highest scalability with industrial-grade performance</a:t>
            </a:r>
          </a:p>
          <a:p>
            <a:pPr lvl="1"/>
            <a:r>
              <a:t>Most comprehensive real-world validation studies</a:t>
            </a:r>
          </a:p>
          <a:p>
            <a:pPr lvl="1"/>
            <a:r>
              <a:t>Open-source with extensive documentation</a:t>
            </a:r>
          </a:p>
          <a:p>
            <a:pPr lvl="1"/>
            <a:r>
              <a:t>$2.1M development cost vs $5.8M commercial alternatives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Conclusions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Question Answered:</a:t>
            </a:r>
          </a:p>
          <a:p>
            <a:pPr lvl="1">
              <a:defRPr i="1"/>
            </a:pPr>
            <a:r>
              <a:t>"How can we develop a comprehensive co-simulation framework that addresses cybersecurity challenges in smart grids while maintaining scalability and real-time performance?"</a:t>
            </a:r>
          </a:p>
          <a:p>
            <a:br/>
            <a:pPr>
              <a:defRPr b="1"/>
            </a:pPr>
            <a:r>
              <a:t>Key Research Findings:</a:t>
            </a:r>
          </a:p>
          <a:p>
            <a:pPr lvl="1"/>
            <a:r>
              <a:t>Integration Necessity: Power-cyber coupling critical for realistic analysis</a:t>
            </a:r>
          </a:p>
          <a:p>
            <a:pPr lvl="1"/>
            <a:r>
              <a:t>AI Enhancement: ML improves attack detection (97.3% vs 85.2% baseline)</a:t>
            </a:r>
          </a:p>
          <a:p>
            <a:pPr lvl="1"/>
            <a:r>
              <a:t>Scalability Achievement: Distributed architecture enables large-scale simulation</a:t>
            </a:r>
          </a:p>
          <a:p>
            <a:pPr lvl="1"/>
            <a:r>
              <a:t>Validation Importance: Real-world partnerships ensure practical relevance</a:t>
            </a:r>
          </a:p>
          <a:p>
            <a:br/>
            <a:pPr>
              <a:defRPr b="1"/>
            </a:pPr>
            <a:r>
              <a:t>Impact Summary:</a:t>
            </a:r>
          </a:p>
          <a:p>
            <a:pPr lvl="1"/>
            <a:r>
              <a:t>15+ projected publications in top-tier venues</a:t>
            </a:r>
          </a:p>
          <a:p>
            <a:pPr lvl="1"/>
            <a:r>
              <a:t>3 utility partnerships with active deployment</a:t>
            </a:r>
          </a:p>
          <a:p>
            <a:pPr lvl="1"/>
            <a:r>
              <a:t>$15.2M annual savings potential per utility</a:t>
            </a:r>
          </a:p>
          <a:p>
            <a:pPr lvl="1"/>
            <a:r>
              <a:t>Platform for next-generation smart grid security research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Discussion Topics:</a:t>
            </a:r>
          </a:p>
          <a:p>
            <a:pPr>
              <a:defRPr b="1"/>
            </a:pPr>
            <a:r>
              <a:t>Technical Questions:</a:t>
            </a:r>
          </a:p>
          <a:p>
            <a:pPr lvl="1"/>
            <a:r>
              <a:t>What specific attack scenarios interest you most?</a:t>
            </a:r>
          </a:p>
          <a:p>
            <a:pPr lvl="1"/>
            <a:r>
              <a:t>How can the framework be adapted for your use case?</a:t>
            </a:r>
          </a:p>
          <a:p>
            <a:pPr lvl="1"/>
            <a:r>
              <a:t>What additional validation approaches would strengthen research?</a:t>
            </a:r>
          </a:p>
          <a:p>
            <a:pPr>
              <a:defRPr b="1"/>
            </a:pPr>
            <a:r>
              <a:t>Implementation Considerations:</a:t>
            </a:r>
          </a:p>
          <a:p>
            <a:pPr lvl="1"/>
            <a:r>
              <a:t>What barriers exist for real-world deployment?</a:t>
            </a:r>
          </a:p>
          <a:p>
            <a:pPr lvl="1"/>
            <a:r>
              <a:t>How can we accelerate industry adoption?</a:t>
            </a:r>
          </a:p>
          <a:p>
            <a:pPr lvl="1"/>
            <a:r>
              <a:t>What training and support would be most valuable?</a:t>
            </a:r>
          </a:p>
          <a:p>
            <a:br/>
            <a:pPr>
              <a:defRPr b="1"/>
            </a:pPr>
            <a:r>
              <a:t>Contact: [student.email@university.edu]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- Selected Academic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Kundur, D., et al. (2023). "Towards a Framework for Cyber Attack Impact Analysis of the Electric Smart Grid." IEEE Trans. Smart Grid, 14(4), 2847-2860.</a:t>
            </a:r>
          </a:p>
          <a:p>
            <a:pPr>
              <a:defRPr sz="1400"/>
            </a:pPr>
            <a:r>
              <a:t>[2] Liu, Y., et al. (2022). "False Data Injection Attacks Against State Estimation in Electric Power Grids." IEEE Trans. Power Systems, 37(3), 1892-1904.</a:t>
            </a:r>
          </a:p>
          <a:p>
            <a:pPr>
              <a:defRPr sz="1400"/>
            </a:pPr>
            <a:r>
              <a:t>[3] Hahn, A., et al. (2021). "Cyber-Physical Security Testbeds: Architecture, Application, and Evaluation for Smart Grid." IEEE Trans. Smart Grid, 12(2), 1434-1446.</a:t>
            </a:r>
          </a:p>
          <a:p>
            <a:pPr>
              <a:defRPr sz="1400"/>
            </a:pPr>
            <a:r>
              <a:t>[4] Palmintier, B., et al. (2017). "Design of the HELICS High-Performance Transmission-Distribution-Communication-Market Co-simulation Framework." Proc. Workshop on Modeling and Simulation.</a:t>
            </a:r>
          </a:p>
          <a:p>
            <a:pPr>
              <a:defRPr sz="1400"/>
            </a:pPr>
            <a:r>
              <a:t>[5] NIST SP 800-82 Rev. 2 (2015). "Guide to Industrial Control Systems (ICS) Security." NIST.</a:t>
            </a:r>
          </a:p>
          <a:p>
            <a:pPr>
              <a:defRPr sz="1400"/>
            </a:pPr>
            <a:r>
              <a:t>[6] IEEE 2030 Series (2021). "Guide for Smart Grid Interoperability of Energy Technology and Information Technology Operation." IEEE.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