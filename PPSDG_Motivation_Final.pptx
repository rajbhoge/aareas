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Privacy-Preserving Synthetic Data Generation</a:t>
            </a:r>
          </a:p>
          <a:p>
            <a:r>
              <a:t>for Smart Grid Cybersecurity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7F8C8D"/>
                </a:solidFill>
              </a:defRPr>
            </a:pPr>
            <a:r>
              <a:t>Understanding the Critical Need for Secure Data Generation</a:t>
            </a:r>
          </a:p>
          <a:p>
            <a:pPr>
              <a:defRPr sz="1600">
                <a:solidFill>
                  <a:srgbClr val="7F8C8D"/>
                </a:solidFill>
              </a:defRPr>
            </a:pPr>
          </a:p>
          <a:p>
            <a:pPr>
              <a:defRPr sz="1600">
                <a:solidFill>
                  <a:srgbClr val="7F8C8D"/>
                </a:solidFill>
              </a:defRPr>
            </a:pPr>
            <a:r>
              <a:t>5 ECTS Course Project</a:t>
            </a:r>
          </a:p>
          <a:p>
            <a:pPr>
              <a:defRPr sz="1600">
                <a:solidFill>
                  <a:srgbClr val="7F8C8D"/>
                </a:solidFill>
              </a:defRPr>
            </a:pPr>
            <a:r>
              <a:t>Master's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34495E"/>
                </a:solidFill>
              </a:defRPr>
            </a:pPr>
            <a:r>
              <a:t>🚨 The Critical Problem in Smart Grid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t>Smart grids represent critical infrastructure that powers modern society</a:t>
            </a:r>
          </a:p>
          <a:p>
            <a:pPr lvl="1">
              <a:defRPr sz="1400">
                <a:latin typeface="Arial"/>
              </a:defRPr>
            </a:pPr>
            <a:r>
              <a:t>• Millions of IoT devices and sensors generating massive data streams</a:t>
            </a:r>
          </a:p>
          <a:p>
            <a:pPr lvl="1">
              <a:defRPr sz="1400">
                <a:latin typeface="Arial"/>
              </a:defRPr>
            </a:pPr>
            <a:r>
              <a:t>• Real-time control systems managing electricity distribution</a:t>
            </a:r>
          </a:p>
          <a:p>
            <a:pPr lvl="1">
              <a:defRPr sz="1400">
                <a:latin typeface="Arial"/>
              </a:defRPr>
            </a:pPr>
            <a:r>
              <a:t>• Financial transactions and consumer privacy data</a:t>
            </a:r>
          </a:p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Cybersecurity research requires comprehensive datasets for:</a:t>
            </a:r>
          </a:p>
          <a:p>
            <a:pPr lvl="1">
              <a:defRPr sz="1400">
                <a:latin typeface="Arial"/>
              </a:defRPr>
            </a:pPr>
            <a:r>
              <a:t>• Training machine learning security models</a:t>
            </a:r>
          </a:p>
          <a:p>
            <a:pPr lvl="1">
              <a:defRPr sz="1400">
                <a:latin typeface="Arial"/>
              </a:defRPr>
            </a:pPr>
            <a:r>
              <a:t>• Testing intrusion detection systems</a:t>
            </a:r>
          </a:p>
          <a:p>
            <a:pPr lvl="1">
              <a:defRPr sz="1400">
                <a:latin typeface="Arial"/>
              </a:defRPr>
            </a:pPr>
            <a:r>
              <a:t>• Validating attack detection algorithms</a:t>
            </a:r>
          </a:p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❌ CHALLENGE: Real smart grid data contains highly sensitive information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34495E"/>
                </a:solidFill>
              </a:defRPr>
            </a:pPr>
            <a:r>
              <a:t>🔒 Why Current Approaches Fall Short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t>Real-world smart grid data cannot be shared due to:</a:t>
            </a:r>
          </a:p>
          <a:p>
            <a:pPr lvl="1">
              <a:defRPr sz="1400">
                <a:latin typeface="Arial"/>
              </a:defRPr>
            </a:pPr>
            <a:r>
              <a:t>• Consumer privacy regulations (GDPR, CCPA)</a:t>
            </a:r>
          </a:p>
          <a:p>
            <a:pPr lvl="1">
              <a:defRPr sz="1400">
                <a:latin typeface="Arial"/>
              </a:defRPr>
            </a:pPr>
            <a:r>
              <a:t>• National security concerns</a:t>
            </a:r>
          </a:p>
          <a:p>
            <a:pPr lvl="1">
              <a:defRPr sz="1400">
                <a:latin typeface="Arial"/>
              </a:defRPr>
            </a:pPr>
            <a:r>
              <a:t>• Corporate intellectual property</a:t>
            </a:r>
          </a:p>
          <a:p>
            <a:pPr lvl="1">
              <a:defRPr sz="1400">
                <a:latin typeface="Arial"/>
              </a:defRPr>
            </a:pPr>
            <a:r>
              <a:t>• Infrastructure vulnerability exposure</a:t>
            </a:r>
          </a:p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Existing synthetic data approaches have limitations:</a:t>
            </a:r>
          </a:p>
          <a:p>
            <a:pPr lvl="1">
              <a:defRPr sz="1400">
                <a:latin typeface="Arial"/>
              </a:defRPr>
            </a:pPr>
            <a:r>
              <a:t>• Simple statistical models lack realism</a:t>
            </a:r>
          </a:p>
          <a:p>
            <a:pPr lvl="1">
              <a:defRPr sz="1400">
                <a:latin typeface="Arial"/>
              </a:defRPr>
            </a:pPr>
            <a:r>
              <a:t>• Rule-based generators miss attack patterns</a:t>
            </a:r>
          </a:p>
          <a:p>
            <a:pPr lvl="1">
              <a:defRPr sz="1400">
                <a:latin typeface="Arial"/>
              </a:defRPr>
            </a:pPr>
            <a:r>
              <a:t>• Privacy is not mathematically guaranteed</a:t>
            </a:r>
          </a:p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Hardware-based solutions are expensive and inaccessible:</a:t>
            </a:r>
          </a:p>
          <a:p>
            <a:pPr lvl="1">
              <a:defRPr sz="1400">
                <a:latin typeface="Arial"/>
              </a:defRPr>
            </a:pPr>
            <a:r>
              <a:t>• IXIA Perfect Storm costs $15,000+</a:t>
            </a:r>
          </a:p>
          <a:p>
            <a:pPr lvl="1">
              <a:defRPr sz="1400">
                <a:latin typeface="Arial"/>
              </a:defRPr>
            </a:pPr>
            <a:r>
              <a:t>• Requires specialized networking equipment</a:t>
            </a:r>
          </a:p>
          <a:p>
            <a:pPr lvl="1">
              <a:defRPr sz="1400">
                <a:latin typeface="Arial"/>
              </a:defRPr>
            </a:pPr>
            <a:r>
              <a:t>• Not feasible for academic research budgets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34495E"/>
                </a:solidFill>
              </a:defRPr>
            </a:pPr>
            <a:r>
              <a:t>📊 Core Challenge: Data Generation &amp; Privacy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t>Research Question:</a:t>
            </a:r>
          </a:p>
          <a:p>
            <a:pPr>
              <a:defRPr sz="1400">
                <a:latin typeface="Arial"/>
              </a:defRPr>
            </a:pPr>
            <a:r>
              <a:t>How can we generate realistic, comprehensive datasets for smart grid cybersecurity research while providing mathematical privacy guarantees?</a:t>
            </a:r>
          </a:p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Key Requirements:</a:t>
            </a:r>
          </a:p>
          <a:p>
            <a:pPr lvl="1">
              <a:defRPr sz="1400">
                <a:latin typeface="Arial"/>
              </a:defRPr>
            </a:pPr>
            <a:r>
              <a:t>• Realistic smart grid operational patterns</a:t>
            </a:r>
          </a:p>
          <a:p>
            <a:pPr lvl="1">
              <a:defRPr sz="1400">
                <a:latin typeface="Arial"/>
              </a:defRPr>
            </a:pPr>
            <a:r>
              <a:t>• Comprehensive cyberattack scenarios</a:t>
            </a:r>
          </a:p>
          <a:p>
            <a:pPr lvl="1">
              <a:defRPr sz="1400">
                <a:latin typeface="Arial"/>
              </a:defRPr>
            </a:pPr>
            <a:r>
              <a:t>• Mathematical privacy preservation (Differential Privacy)</a:t>
            </a:r>
          </a:p>
          <a:p>
            <a:pPr lvl="1">
              <a:defRPr sz="1400">
                <a:latin typeface="Arial"/>
              </a:defRPr>
            </a:pPr>
            <a:r>
              <a:t>• Scalable to large datasets (millions of samples)</a:t>
            </a:r>
          </a:p>
          <a:p>
            <a:pPr lvl="1">
              <a:defRPr sz="1400">
                <a:latin typeface="Arial"/>
              </a:defRPr>
            </a:pPr>
            <a:r>
              <a:t>• Cost-effective for academic use ($0 budget)</a:t>
            </a:r>
          </a:p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Technical Challenges:</a:t>
            </a:r>
          </a:p>
          <a:p>
            <a:pPr lvl="1">
              <a:defRPr sz="1400">
                <a:latin typeface="Arial"/>
              </a:defRPr>
            </a:pPr>
            <a:r>
              <a:t>• Capturing complex spatio-temporal patterns in grid data</a:t>
            </a:r>
          </a:p>
          <a:p>
            <a:pPr lvl="1">
              <a:defRPr sz="1400">
                <a:latin typeface="Arial"/>
              </a:defRPr>
            </a:pPr>
            <a:r>
              <a:t>• Modeling sophisticated attack vectors accurately</a:t>
            </a:r>
          </a:p>
          <a:p>
            <a:pPr lvl="1">
              <a:defRPr sz="1400">
                <a:latin typeface="Arial"/>
              </a:defRPr>
            </a:pPr>
            <a:r>
              <a:t>• Balancing privacy protection with data utility</a:t>
            </a:r>
          </a:p>
          <a:p>
            <a:pPr lvl="1">
              <a:defRPr sz="1400">
                <a:latin typeface="Arial"/>
              </a:defRPr>
            </a:pPr>
            <a:r>
              <a:t>• Ensuring generated data enables effective ML 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34495E"/>
                </a:solidFill>
              </a:defRPr>
            </a:pPr>
            <a:r>
              <a:t>🌍 Real-World Impact &amp; Urgency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t>Recent Smart Grid Cyberattacks:</a:t>
            </a:r>
          </a:p>
          <a:p>
            <a:pPr lvl="1">
              <a:defRPr sz="1400">
                <a:latin typeface="Arial"/>
              </a:defRPr>
            </a:pPr>
            <a:r>
              <a:t>• Ukraine Power Grid (2015, 2016) - 230,000 customers without power</a:t>
            </a:r>
          </a:p>
          <a:p>
            <a:pPr lvl="1">
              <a:defRPr sz="1400">
                <a:latin typeface="Arial"/>
              </a:defRPr>
            </a:pPr>
            <a:r>
              <a:t>• Texas Winter Storm (2021) - Grid vulnerabilities exposed</a:t>
            </a:r>
          </a:p>
          <a:p>
            <a:pPr lvl="1">
              <a:defRPr sz="1400">
                <a:latin typeface="Arial"/>
              </a:defRPr>
            </a:pPr>
            <a:r>
              <a:t>• Colonial Pipeline (2021) - Critical infrastructure ransomware</a:t>
            </a:r>
          </a:p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Growing Attack Surface:</a:t>
            </a:r>
          </a:p>
          <a:p>
            <a:pPr lvl="1">
              <a:defRPr sz="1400">
                <a:latin typeface="Arial"/>
              </a:defRPr>
            </a:pPr>
            <a:r>
              <a:t>• 50+ billion IoT devices expected by 2030</a:t>
            </a:r>
          </a:p>
          <a:p>
            <a:pPr lvl="1">
              <a:defRPr sz="1400">
                <a:latin typeface="Arial"/>
              </a:defRPr>
            </a:pPr>
            <a:r>
              <a:t>• Increasing grid digitization and automation</a:t>
            </a:r>
          </a:p>
          <a:p>
            <a:pPr lvl="1">
              <a:defRPr sz="1400">
                <a:latin typeface="Arial"/>
              </a:defRPr>
            </a:pPr>
            <a:r>
              <a:t>• Nation-state actors targeting critical infrastructure</a:t>
            </a:r>
          </a:p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Research Impact:</a:t>
            </a:r>
          </a:p>
          <a:p>
            <a:pPr lvl="1">
              <a:defRPr sz="1400">
                <a:latin typeface="Arial"/>
              </a:defRPr>
            </a:pPr>
            <a:r>
              <a:t>• Enable development of next-generation security systems</a:t>
            </a:r>
          </a:p>
          <a:p>
            <a:pPr lvl="1">
              <a:defRPr sz="1400">
                <a:latin typeface="Arial"/>
              </a:defRPr>
            </a:pPr>
            <a:r>
              <a:t>• Support academic research without regulatory barriers</a:t>
            </a:r>
          </a:p>
          <a:p>
            <a:pPr lvl="1">
              <a:defRPr sz="1400">
                <a:latin typeface="Arial"/>
              </a:defRPr>
            </a:pPr>
            <a:r>
              <a:t>• Democratize access to realistic cybersecurity datasets</a:t>
            </a:r>
          </a:p>
          <a:p>
            <a:pPr lvl="1">
              <a:defRPr sz="1400">
                <a:latin typeface="Arial"/>
              </a:defRPr>
            </a:pPr>
            <a:r>
              <a:t>• Accelerate ML-based threat detection research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34495E"/>
                </a:solidFill>
              </a:defRPr>
            </a:pPr>
            <a:r>
              <a:t>🎓 Academic Research Gap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t>Literature Review Findings:</a:t>
            </a:r>
          </a:p>
          <a:p>
            <a:pPr lvl="1">
              <a:defRPr sz="1400">
                <a:latin typeface="Arial"/>
              </a:defRPr>
            </a:pPr>
            <a:r>
              <a:t>• Limited publicly available smart grid cybersecurity datasets</a:t>
            </a:r>
          </a:p>
          <a:p>
            <a:pPr lvl="1">
              <a:defRPr sz="1400">
                <a:latin typeface="Arial"/>
              </a:defRPr>
            </a:pPr>
            <a:r>
              <a:t>• Existing datasets are either synthetic (unrealistic) or anonymized (limited utility)</a:t>
            </a:r>
          </a:p>
          <a:p>
            <a:pPr lvl="1">
              <a:defRPr sz="1400">
                <a:latin typeface="Arial"/>
              </a:defRPr>
            </a:pPr>
            <a:r>
              <a:t>• Privacy-preserving data generation is theoretically studied but poorly implemented</a:t>
            </a:r>
          </a:p>
          <a:p>
            <a:pPr lvl="1">
              <a:defRPr sz="1400">
                <a:latin typeface="Arial"/>
              </a:defRPr>
            </a:pPr>
            <a:r>
              <a:t>• Gap between theoretical differential privacy and practical application</a:t>
            </a:r>
          </a:p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Educational Challenge:</a:t>
            </a:r>
          </a:p>
          <a:p>
            <a:pPr lvl="1">
              <a:defRPr sz="1400">
                <a:latin typeface="Arial"/>
              </a:defRPr>
            </a:pPr>
            <a:r>
              <a:t>• Students cannot access real smart grid data for learning</a:t>
            </a:r>
          </a:p>
          <a:p>
            <a:pPr lvl="1">
              <a:defRPr sz="1400">
                <a:latin typeface="Arial"/>
              </a:defRPr>
            </a:pPr>
            <a:r>
              <a:t>• Expensive simulation tools limit hands-on experience</a:t>
            </a:r>
          </a:p>
          <a:p>
            <a:pPr lvl="1">
              <a:defRPr sz="1400">
                <a:latin typeface="Arial"/>
              </a:defRPr>
            </a:pPr>
            <a:r>
              <a:t>• Need for realistic yet privacy-safe datasets for coursework</a:t>
            </a:r>
          </a:p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Research Community Needs:</a:t>
            </a:r>
          </a:p>
          <a:p>
            <a:pPr lvl="1">
              <a:defRPr sz="1400">
                <a:latin typeface="Arial"/>
              </a:defRPr>
            </a:pPr>
            <a:r>
              <a:t>• Reproducible experiments with standardized datasets</a:t>
            </a:r>
          </a:p>
          <a:p>
            <a:pPr lvl="1">
              <a:defRPr sz="1400">
                <a:latin typeface="Arial"/>
              </a:defRPr>
            </a:pPr>
            <a:r>
              <a:t>• Benchmarking platform for security algorithms</a:t>
            </a:r>
          </a:p>
          <a:p>
            <a:pPr lvl="1">
              <a:defRPr sz="1400">
                <a:latin typeface="Arial"/>
              </a:defRPr>
            </a:pPr>
            <a:r>
              <a:t>• Open-source alternative to commercial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34495E"/>
                </a:solidFill>
              </a:defRPr>
            </a:pPr>
            <a:r>
              <a:t>⚙️ Technical Innovation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t>Why a Software-Based Approach?</a:t>
            </a:r>
          </a:p>
          <a:p>
            <a:pPr lvl="1">
              <a:defRPr sz="1400">
                <a:latin typeface="Arial"/>
              </a:defRPr>
            </a:pPr>
            <a:r>
              <a:t>• Eliminates hardware barriers for academic research</a:t>
            </a:r>
          </a:p>
          <a:p>
            <a:pPr lvl="1">
              <a:defRPr sz="1400">
                <a:latin typeface="Arial"/>
              </a:defRPr>
            </a:pPr>
            <a:r>
              <a:t>• Enables reproducible results across different environments</a:t>
            </a:r>
          </a:p>
          <a:p>
            <a:pPr lvl="1">
              <a:defRPr sz="1400">
                <a:latin typeface="Arial"/>
              </a:defRPr>
            </a:pPr>
            <a:r>
              <a:t>• Allows rapid prototyping and algorithm testing</a:t>
            </a:r>
          </a:p>
          <a:p>
            <a:pPr lvl="1">
              <a:defRPr sz="1400">
                <a:latin typeface="Arial"/>
              </a:defRPr>
            </a:pPr>
            <a:r>
              <a:t>• Scales efficiently with cloud computing resources</a:t>
            </a:r>
          </a:p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Privacy-Preserving Requirements:</a:t>
            </a:r>
          </a:p>
          <a:p>
            <a:pPr lvl="1">
              <a:defRPr sz="1400">
                <a:latin typeface="Arial"/>
              </a:defRPr>
            </a:pPr>
            <a:r>
              <a:t>• Formal mathematical guarantees (ε-Differential Privacy)</a:t>
            </a:r>
          </a:p>
          <a:p>
            <a:pPr lvl="1">
              <a:defRPr sz="1400">
                <a:latin typeface="Arial"/>
              </a:defRPr>
            </a:pPr>
            <a:r>
              <a:t>• Utility preservation for machine learning applications</a:t>
            </a:r>
          </a:p>
          <a:p>
            <a:pPr lvl="1">
              <a:defRPr sz="1400">
                <a:latin typeface="Arial"/>
              </a:defRPr>
            </a:pPr>
            <a:r>
              <a:t>• Configurable privacy-utility trade-offs</a:t>
            </a:r>
          </a:p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Research Innovation Areas:</a:t>
            </a:r>
          </a:p>
          <a:p>
            <a:pPr lvl="1">
              <a:defRPr sz="1400">
                <a:latin typeface="Arial"/>
              </a:defRPr>
            </a:pPr>
            <a:r>
              <a:t>• Spatio-Temporal Private Timeseries (STPT) generation</a:t>
            </a:r>
          </a:p>
          <a:p>
            <a:pPr lvl="1">
              <a:defRPr sz="1400">
                <a:latin typeface="Arial"/>
              </a:defRPr>
            </a:pPr>
            <a:r>
              <a:t>• Fuzzy logic-based attack pattern synthesis</a:t>
            </a:r>
          </a:p>
          <a:p>
            <a:pPr lvl="1">
              <a:defRPr sz="1400">
                <a:latin typeface="Arial"/>
              </a:defRPr>
            </a:pPr>
            <a:r>
              <a:t>• Federated learning with privacy preservation</a:t>
            </a:r>
          </a:p>
          <a:p>
            <a:pPr lvl="1">
              <a:defRPr sz="1400">
                <a:latin typeface="Arial"/>
              </a:defRPr>
            </a:pPr>
            <a:r>
              <a:t>• Multi-modal data generation (grid + network traffic)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34495E"/>
                </a:solidFill>
              </a:defRPr>
            </a:pPr>
            <a:r>
              <a:t>🎯 Project Scope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t>Primary Objective:</a:t>
            </a:r>
          </a:p>
          <a:p>
            <a:pPr>
              <a:defRPr sz="1400">
                <a:latin typeface="Arial"/>
              </a:defRPr>
            </a:pPr>
            <a:r>
              <a:t>Develop a complete software-based framework for privacy-preserving synthetic data generation in smart grid cybersecurity research</a:t>
            </a:r>
          </a:p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Specific Goals:</a:t>
            </a:r>
          </a:p>
          <a:p>
            <a:pPr lvl="1">
              <a:defRPr sz="1400">
                <a:latin typeface="Arial"/>
              </a:defRPr>
            </a:pPr>
            <a:r>
              <a:t>• Generate realistic smart grid operational data</a:t>
            </a:r>
          </a:p>
          <a:p>
            <a:pPr lvl="1">
              <a:defRPr sz="1400">
                <a:latin typeface="Arial"/>
              </a:defRPr>
            </a:pPr>
            <a:r>
              <a:t>• Simulate comprehensive network attack scenarios</a:t>
            </a:r>
          </a:p>
          <a:p>
            <a:pPr lvl="1">
              <a:defRPr sz="1400">
                <a:latin typeface="Arial"/>
              </a:defRPr>
            </a:pPr>
            <a:r>
              <a:t>• Apply differential privacy for mathematical guarantees</a:t>
            </a:r>
          </a:p>
          <a:p>
            <a:pPr lvl="1">
              <a:defRPr sz="1400">
                <a:latin typeface="Arial"/>
              </a:defRPr>
            </a:pPr>
            <a:r>
              <a:t>• Enable federated learning with privacy preservation</a:t>
            </a:r>
          </a:p>
          <a:p>
            <a:pPr lvl="1">
              <a:defRPr sz="1400">
                <a:latin typeface="Arial"/>
              </a:defRPr>
            </a:pPr>
            <a:r>
              <a:t>• Provide cost-effective alternative to hardware solutions</a:t>
            </a:r>
          </a:p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Success Criteria:</a:t>
            </a:r>
          </a:p>
          <a:p>
            <a:pPr lvl="1">
              <a:defRPr sz="1400">
                <a:latin typeface="Arial"/>
              </a:defRPr>
            </a:pPr>
            <a:r>
              <a:t>• Generate millions of data samples</a:t>
            </a:r>
          </a:p>
          <a:p>
            <a:pPr lvl="1">
              <a:defRPr sz="1400">
                <a:latin typeface="Arial"/>
              </a:defRPr>
            </a:pPr>
            <a:r>
              <a:t>• Achieve &gt;90% ML model accuracy on synthetic data</a:t>
            </a:r>
          </a:p>
          <a:p>
            <a:pPr lvl="1">
              <a:defRPr sz="1400">
                <a:latin typeface="Arial"/>
              </a:defRPr>
            </a:pPr>
            <a:r>
              <a:t>• Maintain ε-differential privacy with ε ≤ 1.0</a:t>
            </a:r>
          </a:p>
          <a:p>
            <a:pPr lvl="1">
              <a:defRPr sz="1400">
                <a:latin typeface="Arial"/>
              </a:defRPr>
            </a:pPr>
            <a:r>
              <a:t>• Complete implementation within 5 ECTS scope (125 hours)</a:t>
            </a:r>
          </a:p>
          <a:p>
            <a:pPr lvl="1">
              <a:defRPr sz="1400">
                <a:latin typeface="Arial"/>
              </a:defRPr>
            </a:pPr>
            <a:r>
              <a:t>• Zero software licensing costs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34495E"/>
                </a:solidFill>
              </a:defRPr>
            </a:pPr>
            <a:r>
              <a:t>📚 Research Foundation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t>Literature-Based Approach:</a:t>
            </a:r>
          </a:p>
          <a:p>
            <a:pPr lvl="1">
              <a:defRPr sz="1400">
                <a:latin typeface="Arial"/>
              </a:defRPr>
            </a:pPr>
            <a:r>
              <a:t>• Built on 5 peer-reviewed research papers</a:t>
            </a:r>
          </a:p>
          <a:p>
            <a:pPr lvl="1">
              <a:defRPr sz="1400">
                <a:latin typeface="Arial"/>
              </a:defRPr>
            </a:pPr>
            <a:r>
              <a:t>• Implements state-of-the-art privacy-preserving techniques</a:t>
            </a:r>
          </a:p>
          <a:p>
            <a:pPr lvl="1">
              <a:defRPr sz="1400">
                <a:latin typeface="Arial"/>
              </a:defRPr>
            </a:pPr>
            <a:r>
              <a:t>• Combines multiple research domains: cryptography, ML, cybersecurity</a:t>
            </a:r>
          </a:p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Key Research Papers Integration:</a:t>
            </a:r>
          </a:p>
          <a:p>
            <a:pPr lvl="1">
              <a:defRPr sz="1400">
                <a:latin typeface="Arial"/>
              </a:defRPr>
            </a:pPr>
            <a:r>
              <a:t>• Differential Privacy for Time Series Data</a:t>
            </a:r>
          </a:p>
          <a:p>
            <a:pPr lvl="1">
              <a:defRPr sz="1400">
                <a:latin typeface="Arial"/>
              </a:defRPr>
            </a:pPr>
            <a:r>
              <a:t>• Fuzzy Inference Systems for IDS Dataset Generation</a:t>
            </a:r>
          </a:p>
          <a:p>
            <a:pPr lvl="1">
              <a:defRPr sz="1400">
                <a:latin typeface="Arial"/>
              </a:defRPr>
            </a:pPr>
            <a:r>
              <a:t>• Federated Learning in Smart Grid Security</a:t>
            </a:r>
          </a:p>
          <a:p>
            <a:pPr lvl="1">
              <a:defRPr sz="1400">
                <a:latin typeface="Arial"/>
              </a:defRPr>
            </a:pPr>
            <a:r>
              <a:t>• Privacy-Preserving Synthetic Data Generation Methods</a:t>
            </a:r>
          </a:p>
          <a:p>
            <a:pPr lvl="1">
              <a:defRPr sz="1400">
                <a:latin typeface="Arial"/>
              </a:defRPr>
            </a:pPr>
            <a:r>
              <a:t>• Smart Grid Cybersecurity Threat Modeling</a:t>
            </a:r>
          </a:p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Methodology:</a:t>
            </a:r>
          </a:p>
          <a:p>
            <a:pPr lvl="1">
              <a:defRPr sz="1400">
                <a:latin typeface="Arial"/>
              </a:defRPr>
            </a:pPr>
            <a:r>
              <a:t>• Research-first implementation approach</a:t>
            </a:r>
          </a:p>
          <a:p>
            <a:pPr lvl="1">
              <a:defRPr sz="1400">
                <a:latin typeface="Arial"/>
              </a:defRPr>
            </a:pPr>
            <a:r>
              <a:t>• Academic rigor with practical applicability</a:t>
            </a:r>
          </a:p>
          <a:p>
            <a:pPr lvl="1">
              <a:defRPr sz="1400">
                <a:latin typeface="Arial"/>
              </a:defRPr>
            </a:pPr>
            <a:r>
              <a:t>• Open-source development for reproducibility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34495E"/>
                </a:solidFill>
              </a:defRPr>
            </a:pPr>
            <a:r>
              <a:t>⏰ Why This Research Matters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t>Urgent Industry Needs:</a:t>
            </a:r>
          </a:p>
          <a:p>
            <a:pPr lvl="1">
              <a:defRPr sz="1400">
                <a:latin typeface="Arial"/>
              </a:defRPr>
            </a:pPr>
            <a:r>
              <a:t>• Smart grid deployments accelerating globally</a:t>
            </a:r>
          </a:p>
          <a:p>
            <a:pPr lvl="1">
              <a:defRPr sz="1400">
                <a:latin typeface="Arial"/>
              </a:defRPr>
            </a:pPr>
            <a:r>
              <a:t>• Cybersecurity threats evolving faster than defenses</a:t>
            </a:r>
          </a:p>
          <a:p>
            <a:pPr lvl="1">
              <a:defRPr sz="1400">
                <a:latin typeface="Arial"/>
              </a:defRPr>
            </a:pPr>
            <a:r>
              <a:t>• Regulatory pressure for privacy-by-design approaches</a:t>
            </a:r>
          </a:p>
          <a:p>
            <a:pPr lvl="1">
              <a:defRPr sz="1400">
                <a:latin typeface="Arial"/>
              </a:defRPr>
            </a:pPr>
            <a:r>
              <a:t>• Industry seeking academic partnerships for security research</a:t>
            </a:r>
          </a:p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Educational Impact:</a:t>
            </a:r>
          </a:p>
          <a:p>
            <a:pPr lvl="1">
              <a:defRPr sz="1400">
                <a:latin typeface="Arial"/>
              </a:defRPr>
            </a:pPr>
            <a:r>
              <a:t>• Trains next generation of cybersecurity professionals</a:t>
            </a:r>
          </a:p>
          <a:p>
            <a:pPr lvl="1">
              <a:defRPr sz="1400">
                <a:latin typeface="Arial"/>
              </a:defRPr>
            </a:pPr>
            <a:r>
              <a:t>• Provides hands-on experience with cutting-edge techniques</a:t>
            </a:r>
          </a:p>
          <a:p>
            <a:pPr lvl="1">
              <a:defRPr sz="1400">
                <a:latin typeface="Arial"/>
              </a:defRPr>
            </a:pPr>
            <a:r>
              <a:t>• Bridges theory-practice gap in privacy-preserving computing</a:t>
            </a:r>
          </a:p>
          <a:p>
            <a:pPr lvl="1">
              <a:defRPr sz="1400">
                <a:latin typeface="Arial"/>
              </a:defRPr>
            </a:pPr>
            <a:r>
              <a:t>• Enables research collaboration without data sharing barriers</a:t>
            </a:r>
          </a:p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Societal Benefit:</a:t>
            </a:r>
          </a:p>
          <a:p>
            <a:pPr lvl="1">
              <a:defRPr sz="1400">
                <a:latin typeface="Arial"/>
              </a:defRPr>
            </a:pPr>
            <a:r>
              <a:t>• Strengthens critical infrastructure security</a:t>
            </a:r>
          </a:p>
          <a:p>
            <a:pPr lvl="1">
              <a:defRPr sz="1400">
                <a:latin typeface="Arial"/>
              </a:defRPr>
            </a:pPr>
            <a:r>
              <a:t>• Protects consumer privacy in smart grids</a:t>
            </a:r>
          </a:p>
          <a:p>
            <a:pPr lvl="1">
              <a:defRPr sz="1400">
                <a:latin typeface="Arial"/>
              </a:defRPr>
            </a:pPr>
            <a:r>
              <a:t>• Accelerates development of defensive technologies</a:t>
            </a:r>
          </a:p>
          <a:p>
            <a:pPr lvl="1">
              <a:defRPr sz="1400">
                <a:latin typeface="Arial"/>
              </a:defRPr>
            </a:pPr>
            <a:r>
              <a:t>• Reduces societal risk from cyber threats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34495E"/>
                </a:solidFill>
              </a:defRPr>
            </a:pPr>
            <a:r>
              <a:t>🚀 Project Vision &amp;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t>Vision Statement:</a:t>
            </a:r>
          </a:p>
          <a:p>
            <a:pPr>
              <a:defRPr sz="1400">
                <a:latin typeface="Arial"/>
              </a:defRPr>
            </a:pPr>
            <a:r>
              <a:t>"Democratize access to realistic, privacy-safe smart grid cybersecurity datasets through innovative software-based generation techniques."</a:t>
            </a:r>
          </a:p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Expected Contributions:</a:t>
            </a:r>
          </a:p>
          <a:p>
            <a:pPr lvl="1">
              <a:defRPr sz="1400">
                <a:latin typeface="Arial"/>
              </a:defRPr>
            </a:pPr>
            <a:r>
              <a:t>• First comprehensive software-based PPSDG framework</a:t>
            </a:r>
          </a:p>
          <a:p>
            <a:pPr lvl="1">
              <a:defRPr sz="1400">
                <a:latin typeface="Arial"/>
              </a:defRPr>
            </a:pPr>
            <a:r>
              <a:t>• Open-source alternative to expensive commercial tools</a:t>
            </a:r>
          </a:p>
          <a:p>
            <a:pPr lvl="1">
              <a:defRPr sz="1400">
                <a:latin typeface="Arial"/>
              </a:defRPr>
            </a:pPr>
            <a:r>
              <a:t>• Educational resource for cybersecurity programs</a:t>
            </a:r>
          </a:p>
          <a:p>
            <a:pPr lvl="1">
              <a:defRPr sz="1400">
                <a:latin typeface="Arial"/>
              </a:defRPr>
            </a:pPr>
            <a:r>
              <a:t>• Research platform for academic collaboration</a:t>
            </a:r>
          </a:p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Long-term Impact:</a:t>
            </a:r>
          </a:p>
          <a:p>
            <a:pPr lvl="1">
              <a:defRPr sz="1400">
                <a:latin typeface="Arial"/>
              </a:defRPr>
            </a:pPr>
            <a:r>
              <a:t>• Enable widespread cybersecurity research</a:t>
            </a:r>
          </a:p>
          <a:p>
            <a:pPr lvl="1">
              <a:defRPr sz="1400">
                <a:latin typeface="Arial"/>
              </a:defRPr>
            </a:pPr>
            <a:r>
              <a:t>• Improve smart grid security globally</a:t>
            </a:r>
          </a:p>
          <a:p>
            <a:pPr lvl="1">
              <a:defRPr sz="1400">
                <a:latin typeface="Arial"/>
              </a:defRPr>
            </a:pPr>
            <a:r>
              <a:t>• Advance privacy-preserving computing techniques</a:t>
            </a:r>
          </a:p>
          <a:p>
            <a:pPr lvl="1">
              <a:defRPr sz="1400">
                <a:latin typeface="Arial"/>
              </a:defRPr>
            </a:pPr>
            <a:r>
              <a:t>• Foster academic-industry collaboration</a:t>
            </a:r>
          </a:p>
          <a:p>
            <a:pPr>
              <a:defRPr sz="1400">
                <a:latin typeface="Arial"/>
              </a:defRPr>
            </a:pPr>
          </a:p>
          <a:p>
            <a:pPr>
              <a:defRPr sz="1400">
                <a:latin typeface="Arial"/>
              </a:defRPr>
            </a:pPr>
            <a:r>
              <a:t>Ready to address this critical challenge through innovative research!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